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ummary" id="{f761e8a2-5b68-aadc-10e9-b3324d3429e9}">
          <p14:sldIdLst>
            <p14:sldId id="256"/>
            <p14:sldId id="257"/>
          </p14:sldIdLst>
        </p14:section>
        <p14:section name="Merge" id="{a7ab5b58-04ac-632e-d079-cdd0001b5174}">
          <p14:sldIdLst>
            <p14:sldId id="258"/>
            <p14:sldId id="259"/>
          </p14:sldIdLst>
        </p14:section>
        <p14:section name="Results" id="{20f7260c-b289-14f7-d120-8f028351bd14}">
          <p14:sldIdLst>
            <p14:sldId id="260"/>
            <p14:sldId id="261"/>
            <p14:sldId id="262"/>
            <p14:sldId id="263"/>
            <p14:sldId id="264"/>
            <p14:sldId id="265"/>
          </p14:sldIdLst>
        </p14:section>
        <p14:section name="Next steps" id="{13c62d61-cb73-c3e9-bd6a-10b2c67290fb}">
          <p14:sldIdLst>
            <p14:sldId id="266"/>
            <p14:sldId id="267"/>
          </p14:sldIdLst>
        </p14:section>
        <p14:section name="Appendix" id="{aad06a77-a533-e262-4adc-6b6e2041391a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A33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2A33"/>
                </a:solidFill>
                <a:latin typeface="+mn-lt"/>
              </a:rPr>
              <a:t>First post-merge run: tests by area</a:t>
            </a:r>
          </a:p>
        </c:rich>
      </c:tx>
      <c:layout/>
      <c:overlay val="0"/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Passed</c:v>
                </c:pt>
              </c:strCache>
            </c:strRef>
          </c:tx>
          <c:spPr>
            <a:solidFill>
              <a:srgbClr val="0F766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Sheet1!$A$2:$A$16</c:f>
              <c:multiLvlStrCache>
                <c:ptCount val="15"/>
                <c:lvl>
                  <c:pt idx="0">
                    <c:v>Platform &amp; models (85)</c:v>
                  </c:pt>
                  <c:pt idx="1">
                    <c:v>Patient records (55)</c:v>
                  </c:pt>
                  <c:pt idx="2">
                    <c:v>Patient portal (29)</c:v>
                  </c:pt>
                  <c:pt idx="3">
                    <c:v>Auth &amp; users (27)</c:v>
                  </c:pt>
                  <c:pt idx="4">
                    <c:v>Medical documents (27)</c:v>
                  </c:pt>
                  <c:pt idx="5">
                    <c:v>Patient history (25)</c:v>
                  </c:pt>
                  <c:pt idx="6">
                    <c:v>Patient files (24)</c:v>
                  </c:pt>
                  <c:pt idx="7">
                    <c:v>AI summaries (23 + 1 failed)</c:v>
                  </c:pt>
                  <c:pt idx="8">
                    <c:v>Reports (21)</c:v>
                  </c:pt>
                  <c:pt idx="9">
                    <c:v>LLM layer (20)</c:v>
                  </c:pt>
                  <c:pt idx="10">
                    <c:v>Appointments (18)</c:v>
                  </c:pt>
                  <c:pt idx="11">
                    <c:v>Billing (16)</c:v>
                  </c:pt>
                  <c:pt idx="12">
                    <c:v>Seed data (10)</c:v>
                  </c:pt>
                  <c:pt idx="13">
                    <c:v>Dashboard (4 + 4 failed)</c:v>
                  </c:pt>
                  <c:pt idx="14">
                    <c:v>Follow-up (3)</c:v>
                  </c:pt>
                </c:lvl>
              </c:multiLvlStrCache>
            </c:multiLvl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85</c:v>
                </c:pt>
                <c:pt idx="1">
                  <c:v>55</c:v>
                </c:pt>
                <c:pt idx="2">
                  <c:v>29</c:v>
                </c:pt>
                <c:pt idx="3">
                  <c:v>27</c:v>
                </c:pt>
                <c:pt idx="4">
                  <c:v>27</c:v>
                </c:pt>
                <c:pt idx="5">
                  <c:v>25</c:v>
                </c:pt>
                <c:pt idx="6">
                  <c:v>24</c:v>
                </c:pt>
                <c:pt idx="7">
                  <c:v>23</c:v>
                </c:pt>
                <c:pt idx="8">
                  <c:v>21</c:v>
                </c:pt>
                <c:pt idx="9">
                  <c:v>20</c:v>
                </c:pt>
                <c:pt idx="10">
                  <c:v>18</c:v>
                </c:pt>
                <c:pt idx="11">
                  <c:v>16</c:v>
                </c:pt>
                <c:pt idx="12">
                  <c:v>10</c:v>
                </c:pt>
                <c:pt idx="13">
                  <c:v>4</c:v>
                </c:pt>
                <c:pt idx="14">
                  <c:v>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Failed</c:v>
                </c:pt>
              </c:strCache>
            </c:strRef>
          </c:tx>
          <c:spPr>
            <a:solidFill>
              <a:srgbClr val="B91C1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Sheet1!$A$2:$A$16</c:f>
              <c:multiLvlStrCache>
                <c:ptCount val="15"/>
                <c:lvl>
                  <c:pt idx="0">
                    <c:v>Platform &amp; models (85)</c:v>
                  </c:pt>
                  <c:pt idx="1">
                    <c:v>Patient records (55)</c:v>
                  </c:pt>
                  <c:pt idx="2">
                    <c:v>Patient portal (29)</c:v>
                  </c:pt>
                  <c:pt idx="3">
                    <c:v>Auth &amp; users (27)</c:v>
                  </c:pt>
                  <c:pt idx="4">
                    <c:v>Medical documents (27)</c:v>
                  </c:pt>
                  <c:pt idx="5">
                    <c:v>Patient history (25)</c:v>
                  </c:pt>
                  <c:pt idx="6">
                    <c:v>Patient files (24)</c:v>
                  </c:pt>
                  <c:pt idx="7">
                    <c:v>AI summaries (23 + 1 failed)</c:v>
                  </c:pt>
                  <c:pt idx="8">
                    <c:v>Reports (21)</c:v>
                  </c:pt>
                  <c:pt idx="9">
                    <c:v>LLM layer (20)</c:v>
                  </c:pt>
                  <c:pt idx="10">
                    <c:v>Appointments (18)</c:v>
                  </c:pt>
                  <c:pt idx="11">
                    <c:v>Billing (16)</c:v>
                  </c:pt>
                  <c:pt idx="12">
                    <c:v>Seed data (10)</c:v>
                  </c:pt>
                  <c:pt idx="13">
                    <c:v>Dashboard (4 + 4 failed)</c:v>
                  </c:pt>
                  <c:pt idx="14">
                    <c:v>Follow-up (3)</c:v>
                  </c:pt>
                </c:lvl>
              </c:multiLvlStrCache>
            </c:multiLvlStrRef>
          </c:cat>
          <c:val>
            <c:numRef>
              <c:f>Sheet1!$C$2:$C$16</c:f>
              <c:numCache>
                <c:formatCode>General</c:formatCode>
                <c:ptCount val="1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1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4</c:v>
                </c:pt>
                <c:pt idx="1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D5E1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B6B73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QA pass run after the main → patient-record-module merge (commit 175150c). Covers backend tests on a real MongoDB 7, an API smoke test on a fresh seeded stack, the frontend build and unit tests, static analysis and dependency audits.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Backend: 5 failures on the first post-merge run, all inherited from main; after the fixes, 399 of 399 pass with nothing skipped. The NO-GO is only about the release image: the frontend Dockerfile runs a production build, and that build fails.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smoke stack is disposable: it uses its own MongoDB container and its own seed password, so the dev database was not touched.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three appointments files were taken from main. That looked like it dropped this branch's /doctors, /slots and /confirm endpoints, but they were moved to /api/booking, and the frontend's appointments.service.ts points there.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suite on a real MongoDB 7 via Testcontainers, run time about 4 minutes. test_dashboard.py is identical on both parents, so these failures already existed on main.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fixes are in the working tree on top of 175150c, not committed yet. D-02 was checked live on the seeded stack: before the fix the dashboard showed 0 pending and 0 done follow-up tasks, while /api/follow-up/tasks/stats reported 23 and 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against a fresh mongo:7 container initialised by database/mongo-init.js (19 collections) and seeded by scripts/seed.py, with uvicorn serving the merged code and mock LLM providers.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on the seeded smoke stack: one doctor, two free slots two weeks out, two different patients.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Lint debt was 30 findings straight after the merge; the dashboard fix removed 4 of them (dead code and unused imports).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dev advisories only affect the local dev server and build tooling; they are not shipped in the production bundle.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Fixed means fixed in the working tree on top of the merge commit 175150c; those changes still need to be committed.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Items 1 and 2 are needed for a release; 3 to 5 can follow.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651760"/>
            <a:ext cx="11094415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749040"/>
            <a:ext cx="11094415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rgbClr val="CDE7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MediFlow AI · Full QA Report · 26 Oct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DE7E4"/>
                </a:solidFill>
              </a:rPr>
              <a:t>MediFlow AI · Full QA Report · 26 Oct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DE7E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651760"/>
            <a:ext cx="11094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MediFlow AI – Full QA Report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74904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DE7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of main (PR #17) into patient-record-module · 26 Oct 2026</a:t>
            </a:r>
            <a:endParaRPr lang="en-US" sz="2000" dirty="0"/>
          </a:p>
        </p:txBody>
      </p:sp>
      <p:sp>
        <p:nvSpPr>
          <p:cNvPr id="4" name="tag Backend pill"/>
          <p:cNvSpPr/>
          <p:nvPr/>
        </p:nvSpPr>
        <p:spPr>
          <a:xfrm>
            <a:off x="548640" y="4754880"/>
            <a:ext cx="978408" cy="292608"/>
          </a:xfrm>
          <a:prstGeom prst="roundRect">
            <a:avLst>
              <a:gd name="adj" fmla="val 50000"/>
            </a:avLst>
          </a:prstGeom>
          <a:solidFill>
            <a:srgbClr val="E3F2F0"/>
          </a:solidFill>
          <a:ln w="12700">
            <a:solidFill>
              <a:srgbClr val="E3F2F0"/>
            </a:solidFill>
            <a:prstDash val="solid"/>
          </a:ln>
        </p:spPr>
      </p:sp>
      <p:sp>
        <p:nvSpPr>
          <p:cNvPr id="5" name="tag Backend label"/>
          <p:cNvSpPr txBox="1"/>
          <p:nvPr/>
        </p:nvSpPr>
        <p:spPr>
          <a:xfrm>
            <a:off x="548640" y="4754880"/>
            <a:ext cx="978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Backend</a:t>
            </a:r>
            <a:endParaRPr lang="en-US" sz="1100" dirty="0"/>
          </a:p>
        </p:txBody>
      </p:sp>
      <p:sp>
        <p:nvSpPr>
          <p:cNvPr id="6" name="tag API pill"/>
          <p:cNvSpPr/>
          <p:nvPr/>
        </p:nvSpPr>
        <p:spPr>
          <a:xfrm>
            <a:off x="1664208" y="4754880"/>
            <a:ext cx="576072" cy="292608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7" name="tag API label"/>
          <p:cNvSpPr txBox="1"/>
          <p:nvPr/>
        </p:nvSpPr>
        <p:spPr>
          <a:xfrm>
            <a:off x="1664208" y="4754880"/>
            <a:ext cx="576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API</a:t>
            </a:r>
            <a:endParaRPr lang="en-US" sz="1100" dirty="0"/>
          </a:p>
        </p:txBody>
      </p:sp>
      <p:sp>
        <p:nvSpPr>
          <p:cNvPr id="8" name="tag Frontend pill"/>
          <p:cNvSpPr/>
          <p:nvPr/>
        </p:nvSpPr>
        <p:spPr>
          <a:xfrm>
            <a:off x="2377440" y="4754880"/>
            <a:ext cx="1078992" cy="292608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9" name="tag Frontend label"/>
          <p:cNvSpPr txBox="1"/>
          <p:nvPr/>
        </p:nvSpPr>
        <p:spPr>
          <a:xfrm>
            <a:off x="2377440" y="4754880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Frontend</a:t>
            </a:r>
            <a:endParaRPr lang="en-US" sz="1100" dirty="0"/>
          </a:p>
        </p:txBody>
      </p:sp>
      <p:sp>
        <p:nvSpPr>
          <p:cNvPr id="10" name="tag Security pill"/>
          <p:cNvSpPr/>
          <p:nvPr/>
        </p:nvSpPr>
        <p:spPr>
          <a:xfrm>
            <a:off x="3593592" y="4754880"/>
            <a:ext cx="1078992" cy="292608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ag Security label"/>
          <p:cNvSpPr txBox="1"/>
          <p:nvPr/>
        </p:nvSpPr>
        <p:spPr>
          <a:xfrm>
            <a:off x="3593592" y="4754880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Security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summary</a:t>
            </a:r>
            <a:endParaRPr lang="en-US" sz="3200" dirty="0"/>
          </a:p>
        </p:txBody>
      </p:sp>
      <p:sp>
        <p:nvSpPr>
          <p:cNvPr id="3" name="verdict banner"/>
          <p:cNvSpPr/>
          <p:nvPr/>
        </p:nvSpPr>
        <p:spPr>
          <a:xfrm>
            <a:off x="548640" y="128016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E3F2F0"/>
          </a:solidFill>
          <a:ln w="12700">
            <a:solidFill>
              <a:srgbClr val="E3F2F0"/>
            </a:solidFill>
            <a:prstDash val="solid"/>
          </a:ln>
        </p:spPr>
      </p:sp>
      <p:sp>
        <p:nvSpPr>
          <p:cNvPr id="4" name="verdict"/>
          <p:cNvSpPr txBox="1"/>
          <p:nvPr/>
        </p:nvSpPr>
        <p:spPr>
          <a:xfrm>
            <a:off x="822960" y="128016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Merge: GO</a:t>
            </a:r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   ·   </a:t>
            </a:r>
            <a:pPr indent="0" marL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Release: NO-GO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 until the frontend production build is fixed (D-04)</a:t>
            </a:r>
            <a:endParaRPr lang="en-US" sz="1800" dirty="0"/>
          </a:p>
        </p:txBody>
      </p:sp>
      <p:sp>
        <p:nvSpPr>
          <p:cNvPr id="5" name="kpi 1"/>
          <p:cNvSpPr/>
          <p:nvPr/>
        </p:nvSpPr>
        <p:spPr>
          <a:xfrm>
            <a:off x="548640" y="2240280"/>
            <a:ext cx="2567864" cy="1783080"/>
          </a:xfrm>
          <a:prstGeom prst="roundRect">
            <a:avLst>
              <a:gd name="adj" fmla="val 4103"/>
            </a:avLst>
          </a:prstGeom>
          <a:solidFill>
            <a:srgbClr val="E3F2F0"/>
          </a:solidFill>
          <a:ln w="12700">
            <a:solidFill>
              <a:srgbClr val="E3F2F0"/>
            </a:solidFill>
            <a:prstDash val="solid"/>
          </a:ln>
        </p:spPr>
      </p:sp>
      <p:sp>
        <p:nvSpPr>
          <p:cNvPr id="6" name="kpi 1 value"/>
          <p:cNvSpPr txBox="1"/>
          <p:nvPr/>
        </p:nvSpPr>
        <p:spPr>
          <a:xfrm>
            <a:off x="777240" y="2377440"/>
            <a:ext cx="2110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399/399</a:t>
            </a:r>
            <a:endParaRPr lang="en-US" sz="4000" dirty="0"/>
          </a:p>
        </p:txBody>
      </p:sp>
      <p:sp>
        <p:nvSpPr>
          <p:cNvPr id="7" name="kpi 1 label"/>
          <p:cNvSpPr txBox="1"/>
          <p:nvPr/>
        </p:nvSpPr>
        <p:spPr>
          <a:xfrm>
            <a:off x="777240" y="3154680"/>
            <a:ext cx="2110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backend tests pass</a:t>
            </a:r>
            <a:endParaRPr lang="en-US" sz="1500" dirty="0"/>
          </a:p>
        </p:txBody>
      </p:sp>
      <p:sp>
        <p:nvSpPr>
          <p:cNvPr id="8" name="kpi 1 sub"/>
          <p:cNvSpPr txBox="1"/>
          <p:nvPr/>
        </p:nvSpPr>
        <p:spPr>
          <a:xfrm>
            <a:off x="777240" y="3520440"/>
            <a:ext cx="2110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first run: 387/392</a:t>
            </a:r>
            <a:endParaRPr lang="en-US" sz="1200" dirty="0"/>
          </a:p>
        </p:txBody>
      </p:sp>
      <p:sp>
        <p:nvSpPr>
          <p:cNvPr id="9" name="kpi 2"/>
          <p:cNvSpPr/>
          <p:nvPr/>
        </p:nvSpPr>
        <p:spPr>
          <a:xfrm>
            <a:off x="3390824" y="2240280"/>
            <a:ext cx="2567864" cy="1783080"/>
          </a:xfrm>
          <a:prstGeom prst="roundRect">
            <a:avLst>
              <a:gd name="adj" fmla="val 4103"/>
            </a:avLst>
          </a:prstGeom>
          <a:solidFill>
            <a:srgbClr val="E3F2F0"/>
          </a:solidFill>
          <a:ln w="12700">
            <a:solidFill>
              <a:srgbClr val="E3F2F0"/>
            </a:solidFill>
            <a:prstDash val="solid"/>
          </a:ln>
        </p:spPr>
      </p:sp>
      <p:sp>
        <p:nvSpPr>
          <p:cNvPr id="10" name="kpi 2 value"/>
          <p:cNvSpPr txBox="1"/>
          <p:nvPr/>
        </p:nvSpPr>
        <p:spPr>
          <a:xfrm>
            <a:off x="3619424" y="2377440"/>
            <a:ext cx="2110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31/31</a:t>
            </a:r>
            <a:endParaRPr lang="en-US" sz="4000" dirty="0"/>
          </a:p>
        </p:txBody>
      </p:sp>
      <p:sp>
        <p:nvSpPr>
          <p:cNvPr id="11" name="kpi 2 label"/>
          <p:cNvSpPr txBox="1"/>
          <p:nvPr/>
        </p:nvSpPr>
        <p:spPr>
          <a:xfrm>
            <a:off x="3619424" y="3154680"/>
            <a:ext cx="2110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API checks pass</a:t>
            </a:r>
            <a:endParaRPr lang="en-US" sz="1500" dirty="0"/>
          </a:p>
        </p:txBody>
      </p:sp>
      <p:sp>
        <p:nvSpPr>
          <p:cNvPr id="12" name="kpi 2 sub"/>
          <p:cNvSpPr txBox="1"/>
          <p:nvPr/>
        </p:nvSpPr>
        <p:spPr>
          <a:xfrm>
            <a:off x="3619424" y="3520440"/>
            <a:ext cx="2110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25 smoke + 6 double-booking</a:t>
            </a:r>
            <a:endParaRPr lang="en-US" sz="1200" dirty="0"/>
          </a:p>
        </p:txBody>
      </p:sp>
      <p:sp>
        <p:nvSpPr>
          <p:cNvPr id="13" name="kpi 3"/>
          <p:cNvSpPr/>
          <p:nvPr/>
        </p:nvSpPr>
        <p:spPr>
          <a:xfrm>
            <a:off x="6233008" y="2240280"/>
            <a:ext cx="2567864" cy="1783080"/>
          </a:xfrm>
          <a:prstGeom prst="roundRect">
            <a:avLst>
              <a:gd name="adj" fmla="val 4103"/>
            </a:avLst>
          </a:prstGeom>
          <a:solidFill>
            <a:srgbClr val="E3F2F0"/>
          </a:solidFill>
          <a:ln w="12700">
            <a:solidFill>
              <a:srgbClr val="E3F2F0"/>
            </a:solidFill>
            <a:prstDash val="solid"/>
          </a:ln>
        </p:spPr>
      </p:sp>
      <p:sp>
        <p:nvSpPr>
          <p:cNvPr id="14" name="kpi 3 value"/>
          <p:cNvSpPr txBox="1"/>
          <p:nvPr/>
        </p:nvSpPr>
        <p:spPr>
          <a:xfrm>
            <a:off x="6461608" y="2377440"/>
            <a:ext cx="2110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26/26</a:t>
            </a:r>
            <a:endParaRPr lang="en-US" sz="4000" dirty="0"/>
          </a:p>
        </p:txBody>
      </p:sp>
      <p:sp>
        <p:nvSpPr>
          <p:cNvPr id="15" name="kpi 3 label"/>
          <p:cNvSpPr txBox="1"/>
          <p:nvPr/>
        </p:nvSpPr>
        <p:spPr>
          <a:xfrm>
            <a:off x="6461608" y="3154680"/>
            <a:ext cx="2110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frontend unit tests pass</a:t>
            </a:r>
            <a:endParaRPr lang="en-US" sz="1500" dirty="0"/>
          </a:p>
        </p:txBody>
      </p:sp>
      <p:sp>
        <p:nvSpPr>
          <p:cNvPr id="16" name="kpi 3 sub"/>
          <p:cNvSpPr txBox="1"/>
          <p:nvPr/>
        </p:nvSpPr>
        <p:spPr>
          <a:xfrm>
            <a:off x="6461608" y="3520440"/>
            <a:ext cx="2110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8 spec files, Vitest</a:t>
            </a:r>
            <a:endParaRPr lang="en-US" sz="1200" dirty="0"/>
          </a:p>
        </p:txBody>
      </p:sp>
      <p:sp>
        <p:nvSpPr>
          <p:cNvPr id="17" name="kpi 4"/>
          <p:cNvSpPr/>
          <p:nvPr/>
        </p:nvSpPr>
        <p:spPr>
          <a:xfrm>
            <a:off x="9075191" y="2240280"/>
            <a:ext cx="2567864" cy="1783080"/>
          </a:xfrm>
          <a:prstGeom prst="roundRect">
            <a:avLst>
              <a:gd name="adj" fmla="val 4103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8" name="kpi 4 value"/>
          <p:cNvSpPr txBox="1"/>
          <p:nvPr/>
        </p:nvSpPr>
        <p:spPr>
          <a:xfrm>
            <a:off x="9303791" y="2377440"/>
            <a:ext cx="2110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FAIL</a:t>
            </a:r>
            <a:endParaRPr lang="en-US" sz="4000" dirty="0"/>
          </a:p>
        </p:txBody>
      </p:sp>
      <p:sp>
        <p:nvSpPr>
          <p:cNvPr id="19" name="kpi 4 label"/>
          <p:cNvSpPr txBox="1"/>
          <p:nvPr/>
        </p:nvSpPr>
        <p:spPr>
          <a:xfrm>
            <a:off x="9303791" y="3154680"/>
            <a:ext cx="2110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production build</a:t>
            </a:r>
            <a:endParaRPr lang="en-US" sz="1500" dirty="0"/>
          </a:p>
        </p:txBody>
      </p:sp>
      <p:sp>
        <p:nvSpPr>
          <p:cNvPr id="20" name="kpi 4 sub"/>
          <p:cNvSpPr txBox="1"/>
          <p:nvPr/>
        </p:nvSpPr>
        <p:spPr>
          <a:xfrm>
            <a:off x="9303791" y="3520440"/>
            <a:ext cx="2110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font CSS over budget</a:t>
            </a:r>
            <a:endParaRPr lang="en-US" sz="1200" dirty="0"/>
          </a:p>
        </p:txBody>
      </p:sp>
      <p:sp>
        <p:nvSpPr>
          <p:cNvPr id="21" name="key findings"/>
          <p:cNvSpPr txBox="1"/>
          <p:nvPr/>
        </p:nvSpPr>
        <p:spPr>
          <a:xfrm>
            <a:off x="548640" y="4297680"/>
            <a:ext cx="1109441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3 bugs found and fixed: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phone numbers reaching the LLM unmasked, dashboard follow-up KPIs always 0 (plus a connection leak), and the admin's pending-accounts KPI lost in the merge.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Merge resolution verified: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no feature from either side was lost, and double-booking is blocked across both appointment APIs.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Inherited from main, still open: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production build fails on a CSS budget, plus 26 auto-fixable lint findings and 37 unformatted files.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 and test environment</a:t>
            </a:r>
            <a:endParaRPr lang="en-US" sz="3200" dirty="0"/>
          </a:p>
        </p:txBody>
      </p:sp>
      <p:sp>
        <p:nvSpPr>
          <p:cNvPr id="3" name="scope panel"/>
          <p:cNvSpPr/>
          <p:nvPr/>
        </p:nvSpPr>
        <p:spPr>
          <a:xfrm>
            <a:off x="548640" y="1325880"/>
            <a:ext cx="5120640" cy="4800600"/>
          </a:xfrm>
          <a:prstGeom prst="roundRect">
            <a:avLst>
              <a:gd name="adj" fmla="val 1524"/>
            </a:avLst>
          </a:prstGeom>
          <a:solidFill>
            <a:srgbClr val="F3F7F8"/>
          </a:solidFill>
          <a:ln w="12700">
            <a:solidFill>
              <a:srgbClr val="F3F7F8"/>
            </a:solidFill>
            <a:prstDash val="solid"/>
          </a:ln>
        </p:spPr>
      </p:sp>
      <p:sp>
        <p:nvSpPr>
          <p:cNvPr id="4" name="scope heading"/>
          <p:cNvSpPr txBox="1"/>
          <p:nvPr/>
        </p:nvSpPr>
        <p:spPr>
          <a:xfrm>
            <a:off x="822960" y="15087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was merged</a:t>
            </a:r>
            <a:endParaRPr lang="en-US" sz="2000" dirty="0"/>
          </a:p>
        </p:txBody>
      </p:sp>
      <p:sp>
        <p:nvSpPr>
          <p:cNvPr id="5" name="fact 1 value"/>
          <p:cNvSpPr txBox="1"/>
          <p:nvPr/>
        </p:nvSpPr>
        <p:spPr>
          <a:xfrm>
            <a:off x="822960" y="205740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175150c</a:t>
            </a:r>
            <a:endParaRPr lang="en-US" sz="2600" dirty="0"/>
          </a:p>
        </p:txBody>
      </p:sp>
      <p:sp>
        <p:nvSpPr>
          <p:cNvPr id="6" name="fact 1 label"/>
          <p:cNvSpPr txBox="1"/>
          <p:nvPr/>
        </p:nvSpPr>
        <p:spPr>
          <a:xfrm>
            <a:off x="2926080" y="205740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merge commit on patient-record-module</a:t>
            </a:r>
            <a:endParaRPr lang="en-US" sz="1500" dirty="0"/>
          </a:p>
        </p:txBody>
      </p:sp>
      <p:sp>
        <p:nvSpPr>
          <p:cNvPr id="7" name="fact 2 value"/>
          <p:cNvSpPr txBox="1"/>
          <p:nvPr/>
        </p:nvSpPr>
        <p:spPr>
          <a:xfrm>
            <a:off x="822960" y="301752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</a:t>
            </a:r>
            <a:endParaRPr lang="en-US" sz="3000" dirty="0"/>
          </a:p>
        </p:txBody>
      </p:sp>
      <p:sp>
        <p:nvSpPr>
          <p:cNvPr id="8" name="fact 2 label"/>
          <p:cNvSpPr txBox="1"/>
          <p:nvPr/>
        </p:nvSpPr>
        <p:spPr>
          <a:xfrm>
            <a:off x="2926080" y="301752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commits from main, up to PR #17 (0cd4343)</a:t>
            </a:r>
            <a:endParaRPr lang="en-US" sz="1500" dirty="0"/>
          </a:p>
        </p:txBody>
      </p:sp>
      <p:sp>
        <p:nvSpPr>
          <p:cNvPr id="9" name="fact 3 value"/>
          <p:cNvSpPr txBox="1"/>
          <p:nvPr/>
        </p:nvSpPr>
        <p:spPr>
          <a:xfrm>
            <a:off x="822960" y="397764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74</a:t>
            </a:r>
            <a:endParaRPr lang="en-US" sz="3000" dirty="0"/>
          </a:p>
        </p:txBody>
      </p:sp>
      <p:sp>
        <p:nvSpPr>
          <p:cNvPr id="10" name="fact 3 label"/>
          <p:cNvSpPr txBox="1"/>
          <p:nvPr/>
        </p:nvSpPr>
        <p:spPr>
          <a:xfrm>
            <a:off x="2926080" y="397764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files changed, +10,057 / −931 lines</a:t>
            </a:r>
            <a:endParaRPr lang="en-US" sz="1500" dirty="0"/>
          </a:p>
        </p:txBody>
      </p:sp>
      <p:sp>
        <p:nvSpPr>
          <p:cNvPr id="11" name="fact 4 value"/>
          <p:cNvSpPr txBox="1"/>
          <p:nvPr/>
        </p:nvSpPr>
        <p:spPr>
          <a:xfrm>
            <a:off x="822960" y="493776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3000" dirty="0"/>
          </a:p>
        </p:txBody>
      </p:sp>
      <p:sp>
        <p:nvSpPr>
          <p:cNvPr id="12" name="fact 4 label"/>
          <p:cNvSpPr txBox="1"/>
          <p:nvPr/>
        </p:nvSpPr>
        <p:spPr>
          <a:xfrm>
            <a:off x="2926080" y="493776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files with conflicts, resolved and reviewed</a:t>
            </a:r>
            <a:endParaRPr lang="en-US" sz="15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0" y="1325880"/>
          <a:ext cx="571500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429768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Layer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Stack used for this run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4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Backend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Python 3.13.5 · FastAPI 0.162 · Beanie 2.2 · PyMongo 4.19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Tests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pytest 9.1.1 · Testcontainers 4.15 · MongoDB 7 (real, nothing skipped)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Frontend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Angular 22.2.3 · TypeScript 6.0 · Vitest 5.0.5 · Node 24.20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Smoke stack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Fresh mongo:7 + repo init scripts + seed · uvicorn on merged code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LLM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Mock providers only: no real model called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Static checks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ruff 0.17.2 (lint + format) · npm audit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Conflict resolution reviewed file by file</a:t>
            </a:r>
            <a:endParaRPr lang="en-US" sz="3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4415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5120640"/>
                <a:gridCol w="350215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Conflicted files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How it was resolved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Verified by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47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appointments/</a:t>
                      </a:r>
                      <a:endParaRPr lang="en-US" sz="1400" dirty="0"/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router · schemas · service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Main's CRUD + LLM parse API kept at /api/appointments. This branch's booking API moved into the new appointment_booking module at /api/booking.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Both use the same Appointment model and overlap check; double-booking test 6/6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follow_up/</a:t>
                      </a:r>
                      <a:endParaRPr lang="en-US" sz="1400" dirty="0"/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repository · service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Main's AI features and status mapping kept; follow-up routes now need a staff token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test_follow_up 3/3; unauthenticated call returns 401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tests/test_health.py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Expected route set updated to 91 paths; duplicate /api/reports entries removed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Matches app.openapi() exactly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patient-detail.html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Additions from both sides kept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Frontend compiles; 26/26 unit tests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note"/>
          <p:cNvSpPr/>
          <p:nvPr/>
        </p:nvSpPr>
        <p:spPr>
          <a:xfrm>
            <a:off x="548640" y="5349240"/>
            <a:ext cx="11094415" cy="822960"/>
          </a:xfrm>
          <a:prstGeom prst="roundRect">
            <a:avLst>
              <a:gd name="adj" fmla="val 8889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" name="note text"/>
          <p:cNvSpPr txBox="1"/>
          <p:nvPr/>
        </p:nvSpPr>
        <p:spPr>
          <a:xfrm>
            <a:off x="822960" y="5349240"/>
            <a:ext cx="105457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Watch-out: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two files merged cleanly but still broke things: llm/anonymizer.py and dashboard/service.py, both changed only on main. That's where the bugs on the next slides came from.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Backend: 399 of 399 tests pass after the fixes</a:t>
            </a:r>
            <a:endParaRPr lang="en-US" sz="3200" dirty="0"/>
          </a:p>
        </p:txBody>
      </p:sp>
      <p:graphicFrame>
        <p:nvGraphicFramePr>
          <p:cNvPr id="3" name="first run by area" descr=""/>
          <p:cNvGraphicFramePr/>
          <p:nvPr/>
        </p:nvGraphicFramePr>
        <p:xfrm>
          <a:off x="548640" y="1280160"/>
          <a:ext cx="6766560" cy="4892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before"/>
          <p:cNvSpPr/>
          <p:nvPr/>
        </p:nvSpPr>
        <p:spPr>
          <a:xfrm>
            <a:off x="7589520" y="1280160"/>
            <a:ext cx="4053535" cy="1417320"/>
          </a:xfrm>
          <a:prstGeom prst="roundRect">
            <a:avLst>
              <a:gd name="adj" fmla="val 516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5" name="before value"/>
          <p:cNvSpPr txBox="1"/>
          <p:nvPr/>
        </p:nvSpPr>
        <p:spPr>
          <a:xfrm>
            <a:off x="7818120" y="1371600"/>
            <a:ext cx="35963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387/392</a:t>
            </a:r>
            <a:endParaRPr lang="en-US" sz="3200" dirty="0"/>
          </a:p>
        </p:txBody>
      </p:sp>
      <p:sp>
        <p:nvSpPr>
          <p:cNvPr id="6" name="before label"/>
          <p:cNvSpPr txBox="1"/>
          <p:nvPr/>
        </p:nvSpPr>
        <p:spPr>
          <a:xfrm>
            <a:off x="7818120" y="2011680"/>
            <a:ext cx="3596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first run: 5 failures, all inherited from main</a:t>
            </a:r>
            <a:endParaRPr lang="en-US" sz="1300" dirty="0"/>
          </a:p>
        </p:txBody>
      </p:sp>
      <p:sp>
        <p:nvSpPr>
          <p:cNvPr id="7" name="after"/>
          <p:cNvSpPr/>
          <p:nvPr/>
        </p:nvSpPr>
        <p:spPr>
          <a:xfrm>
            <a:off x="7589520" y="2880360"/>
            <a:ext cx="4053535" cy="1417320"/>
          </a:xfrm>
          <a:prstGeom prst="roundRect">
            <a:avLst>
              <a:gd name="adj" fmla="val 5161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8" name="after value"/>
          <p:cNvSpPr txBox="1"/>
          <p:nvPr/>
        </p:nvSpPr>
        <p:spPr>
          <a:xfrm>
            <a:off x="7818120" y="2971800"/>
            <a:ext cx="35963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399/399</a:t>
            </a:r>
            <a:endParaRPr lang="en-US" sz="3200" dirty="0"/>
          </a:p>
        </p:txBody>
      </p:sp>
      <p:sp>
        <p:nvSpPr>
          <p:cNvPr id="9" name="after label"/>
          <p:cNvSpPr txBox="1"/>
          <p:nvPr/>
        </p:nvSpPr>
        <p:spPr>
          <a:xfrm>
            <a:off x="7818120" y="3611880"/>
            <a:ext cx="3596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after fixes: 0 failed, 0 skipped, 7 new regression tests</a:t>
            </a:r>
            <a:endParaRPr lang="en-US" sz="1300" dirty="0"/>
          </a:p>
        </p:txBody>
      </p:sp>
      <p:sp>
        <p:nvSpPr>
          <p:cNvPr id="10" name="root causes"/>
          <p:cNvSpPr txBox="1"/>
          <p:nvPr/>
        </p:nvSpPr>
        <p:spPr>
          <a:xfrm>
            <a:off x="7589520" y="4526280"/>
            <a:ext cx="405353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Root causes of the 5 failures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1 · summaries: phone not masked (D-01)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4 · dashboard: KPI contract changed on main, and the follow-up counter was broken (D-02, D-03)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bugs found and fixed during QA</a:t>
            </a:r>
            <a:endParaRPr lang="en-US" sz="3200" dirty="0"/>
          </a:p>
        </p:txBody>
      </p:sp>
      <p:sp>
        <p:nvSpPr>
          <p:cNvPr id="3" name="D-01 card"/>
          <p:cNvSpPr/>
          <p:nvPr/>
        </p:nvSpPr>
        <p:spPr>
          <a:xfrm>
            <a:off x="548640" y="1325880"/>
            <a:ext cx="3515258" cy="4800600"/>
          </a:xfrm>
          <a:prstGeom prst="roundRect">
            <a:avLst>
              <a:gd name="adj" fmla="val 2081"/>
            </a:avLst>
          </a:prstGeom>
          <a:solidFill>
            <a:srgbClr val="F3F7F8"/>
          </a:solidFill>
          <a:ln w="12700">
            <a:solidFill>
              <a:srgbClr val="F3F7F8"/>
            </a:solidFill>
            <a:prstDash val="solid"/>
          </a:ln>
        </p:spPr>
      </p:sp>
      <p:sp>
        <p:nvSpPr>
          <p:cNvPr id="4" name="D-01 sev pill"/>
          <p:cNvSpPr/>
          <p:nvPr/>
        </p:nvSpPr>
        <p:spPr>
          <a:xfrm>
            <a:off x="777240" y="1554480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5" name="D-01 sev label"/>
          <p:cNvSpPr txBox="1"/>
          <p:nvPr/>
        </p:nvSpPr>
        <p:spPr>
          <a:xfrm>
            <a:off x="777240" y="155448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High</a:t>
            </a:r>
            <a:endParaRPr lang="en-US" sz="1100" dirty="0"/>
          </a:p>
        </p:txBody>
      </p:sp>
      <p:sp>
        <p:nvSpPr>
          <p:cNvPr id="6" name="D-01 id"/>
          <p:cNvSpPr txBox="1"/>
          <p:nvPr/>
        </p:nvSpPr>
        <p:spPr>
          <a:xfrm>
            <a:off x="1828800" y="155448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D-01</a:t>
            </a:r>
            <a:endParaRPr lang="en-US" sz="1200" dirty="0"/>
          </a:p>
        </p:txBody>
      </p:sp>
      <p:sp>
        <p:nvSpPr>
          <p:cNvPr id="7" name="D-01 title"/>
          <p:cNvSpPr txBox="1"/>
          <p:nvPr/>
        </p:nvSpPr>
        <p:spPr>
          <a:xfrm>
            <a:off x="777240" y="2011680"/>
            <a:ext cx="305805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Phone numbers reached the LLM</a:t>
            </a:r>
            <a:endParaRPr lang="en-US" sz="1800" dirty="0"/>
          </a:p>
        </p:txBody>
      </p:sp>
      <p:sp>
        <p:nvSpPr>
          <p:cNvPr id="8" name="D-01 what"/>
          <p:cNvSpPr txBox="1"/>
          <p:nvPr/>
        </p:nvSpPr>
        <p:spPr>
          <a:xfrm>
            <a:off x="777240" y="2880360"/>
            <a:ext cx="305805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Main's date-safe regex rewrite stopped masking local 8-digit numbers: "98 765 432" went to the model as-is.</a:t>
            </a:r>
            <a:endParaRPr lang="en-US" sz="1400" dirty="0"/>
          </a:p>
        </p:txBody>
      </p:sp>
      <p:sp>
        <p:nvSpPr>
          <p:cNvPr id="9" name="D-01 fix box"/>
          <p:cNvSpPr/>
          <p:nvPr/>
        </p:nvSpPr>
        <p:spPr>
          <a:xfrm>
            <a:off x="777240" y="4526280"/>
            <a:ext cx="3058058" cy="960120"/>
          </a:xfrm>
          <a:prstGeom prst="roundRect">
            <a:avLst>
              <a:gd name="adj" fmla="val 7619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0" name="D-01 fix"/>
          <p:cNvSpPr txBox="1"/>
          <p:nvPr/>
        </p:nvSpPr>
        <p:spPr>
          <a:xfrm>
            <a:off x="914400" y="4526280"/>
            <a:ext cx="278373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Fix: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Added local formats, kept ISO-date protection, 7 new tests</a:t>
            </a:r>
            <a:endParaRPr lang="en-US" sz="1300" dirty="0"/>
          </a:p>
        </p:txBody>
      </p:sp>
      <p:sp>
        <p:nvSpPr>
          <p:cNvPr id="11" name="D-01 file"/>
          <p:cNvSpPr txBox="1"/>
          <p:nvPr/>
        </p:nvSpPr>
        <p:spPr>
          <a:xfrm>
            <a:off x="777240" y="5623560"/>
            <a:ext cx="30580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app/llm/anonymizer.py</a:t>
            </a:r>
            <a:endParaRPr lang="en-US" sz="1100" dirty="0"/>
          </a:p>
        </p:txBody>
      </p:sp>
      <p:sp>
        <p:nvSpPr>
          <p:cNvPr id="12" name="D-02 card"/>
          <p:cNvSpPr/>
          <p:nvPr/>
        </p:nvSpPr>
        <p:spPr>
          <a:xfrm>
            <a:off x="4338218" y="1325880"/>
            <a:ext cx="3515258" cy="4800600"/>
          </a:xfrm>
          <a:prstGeom prst="roundRect">
            <a:avLst>
              <a:gd name="adj" fmla="val 2081"/>
            </a:avLst>
          </a:prstGeom>
          <a:solidFill>
            <a:srgbClr val="F3F7F8"/>
          </a:solidFill>
          <a:ln w="12700">
            <a:solidFill>
              <a:srgbClr val="F3F7F8"/>
            </a:solidFill>
            <a:prstDash val="solid"/>
          </a:ln>
        </p:spPr>
      </p:sp>
      <p:sp>
        <p:nvSpPr>
          <p:cNvPr id="13" name="D-02 sev pill"/>
          <p:cNvSpPr/>
          <p:nvPr/>
        </p:nvSpPr>
        <p:spPr>
          <a:xfrm>
            <a:off x="4566818" y="1554480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4" name="D-02 sev label"/>
          <p:cNvSpPr txBox="1"/>
          <p:nvPr/>
        </p:nvSpPr>
        <p:spPr>
          <a:xfrm>
            <a:off x="4566818" y="155448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High</a:t>
            </a:r>
            <a:endParaRPr lang="en-US" sz="1100" dirty="0"/>
          </a:p>
        </p:txBody>
      </p:sp>
      <p:sp>
        <p:nvSpPr>
          <p:cNvPr id="15" name="D-02 id"/>
          <p:cNvSpPr txBox="1"/>
          <p:nvPr/>
        </p:nvSpPr>
        <p:spPr>
          <a:xfrm>
            <a:off x="5618378" y="155448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D-02</a:t>
            </a:r>
            <a:endParaRPr lang="en-US" sz="1200" dirty="0"/>
          </a:p>
        </p:txBody>
      </p:sp>
      <p:sp>
        <p:nvSpPr>
          <p:cNvPr id="16" name="D-02 title"/>
          <p:cNvSpPr txBox="1"/>
          <p:nvPr/>
        </p:nvSpPr>
        <p:spPr>
          <a:xfrm>
            <a:off x="4566818" y="2011680"/>
            <a:ext cx="305805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Follow-up KPIs always 0, connection leak</a:t>
            </a:r>
            <a:endParaRPr lang="en-US" sz="1800" dirty="0"/>
          </a:p>
        </p:txBody>
      </p:sp>
      <p:sp>
        <p:nvSpPr>
          <p:cNvPr id="17" name="D-02 what"/>
          <p:cNvSpPr txBox="1"/>
          <p:nvPr/>
        </p:nvSpPr>
        <p:spPr>
          <a:xfrm>
            <a:off x="4566818" y="2880360"/>
            <a:ext cx="305805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Counted 'pending'/'done', but the DB stores TODO/IN_PROGRESS/DONE. Opened a new Mongo client on every request and never closed it.</a:t>
            </a:r>
            <a:endParaRPr lang="en-US" sz="1400" dirty="0"/>
          </a:p>
        </p:txBody>
      </p:sp>
      <p:sp>
        <p:nvSpPr>
          <p:cNvPr id="18" name="D-02 fix box"/>
          <p:cNvSpPr/>
          <p:nvPr/>
        </p:nvSpPr>
        <p:spPr>
          <a:xfrm>
            <a:off x="4566818" y="4526280"/>
            <a:ext cx="3058058" cy="960120"/>
          </a:xfrm>
          <a:prstGeom prst="roundRect">
            <a:avLst>
              <a:gd name="adj" fmla="val 7619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9" name="D-02 fix"/>
          <p:cNvSpPr txBox="1"/>
          <p:nvPr/>
        </p:nvSpPr>
        <p:spPr>
          <a:xfrm>
            <a:off x="4703978" y="4526280"/>
            <a:ext cx="278373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Fix: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Beanie counts on FollowupTask. Live: 0/0 → 23/7</a:t>
            </a:r>
            <a:endParaRPr lang="en-US" sz="1300" dirty="0"/>
          </a:p>
        </p:txBody>
      </p:sp>
      <p:sp>
        <p:nvSpPr>
          <p:cNvPr id="20" name="D-02 file"/>
          <p:cNvSpPr txBox="1"/>
          <p:nvPr/>
        </p:nvSpPr>
        <p:spPr>
          <a:xfrm>
            <a:off x="4566818" y="5623560"/>
            <a:ext cx="30580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dashboard/repository.py</a:t>
            </a:r>
            <a:endParaRPr lang="en-US" sz="1100" dirty="0"/>
          </a:p>
        </p:txBody>
      </p:sp>
      <p:sp>
        <p:nvSpPr>
          <p:cNvPr id="21" name="D-03 card"/>
          <p:cNvSpPr/>
          <p:nvPr/>
        </p:nvSpPr>
        <p:spPr>
          <a:xfrm>
            <a:off x="8127797" y="1325880"/>
            <a:ext cx="3515258" cy="4800600"/>
          </a:xfrm>
          <a:prstGeom prst="roundRect">
            <a:avLst>
              <a:gd name="adj" fmla="val 2081"/>
            </a:avLst>
          </a:prstGeom>
          <a:solidFill>
            <a:srgbClr val="F3F7F8"/>
          </a:solidFill>
          <a:ln w="12700">
            <a:solidFill>
              <a:srgbClr val="F3F7F8"/>
            </a:solidFill>
            <a:prstDash val="solid"/>
          </a:ln>
        </p:spPr>
      </p:sp>
      <p:sp>
        <p:nvSpPr>
          <p:cNvPr id="22" name="D-03 sev pill"/>
          <p:cNvSpPr/>
          <p:nvPr/>
        </p:nvSpPr>
        <p:spPr>
          <a:xfrm>
            <a:off x="8356397" y="1554480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3" name="D-03 sev label"/>
          <p:cNvSpPr txBox="1"/>
          <p:nvPr/>
        </p:nvSpPr>
        <p:spPr>
          <a:xfrm>
            <a:off x="8356397" y="155448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Medium</a:t>
            </a:r>
            <a:endParaRPr lang="en-US" sz="1100" dirty="0"/>
          </a:p>
        </p:txBody>
      </p:sp>
      <p:sp>
        <p:nvSpPr>
          <p:cNvPr id="24" name="D-03 id"/>
          <p:cNvSpPr txBox="1"/>
          <p:nvPr/>
        </p:nvSpPr>
        <p:spPr>
          <a:xfrm>
            <a:off x="9407957" y="155448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D-03</a:t>
            </a:r>
            <a:endParaRPr lang="en-US" sz="1200" dirty="0"/>
          </a:p>
        </p:txBody>
      </p:sp>
      <p:sp>
        <p:nvSpPr>
          <p:cNvPr id="25" name="D-03 title"/>
          <p:cNvSpPr txBox="1"/>
          <p:nvPr/>
        </p:nvSpPr>
        <p:spPr>
          <a:xfrm>
            <a:off x="8356397" y="2011680"/>
            <a:ext cx="305805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 lost 'pending accounts' KPI</a:t>
            </a:r>
            <a:endParaRPr lang="en-US" sz="1800" dirty="0"/>
          </a:p>
        </p:txBody>
      </p:sp>
      <p:sp>
        <p:nvSpPr>
          <p:cNvPr id="26" name="D-03 what"/>
          <p:cNvSpPr txBox="1"/>
          <p:nvPr/>
        </p:nvSpPr>
        <p:spPr>
          <a:xfrm>
            <a:off x="8356397" y="2880360"/>
            <a:ext cx="305805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Main's dashboard redesign dropped inactive_users, so doctors awaiting approval were no longer visible to the admin.</a:t>
            </a:r>
            <a:endParaRPr lang="en-US" sz="1400" dirty="0"/>
          </a:p>
        </p:txBody>
      </p:sp>
      <p:sp>
        <p:nvSpPr>
          <p:cNvPr id="27" name="D-03 fix box"/>
          <p:cNvSpPr/>
          <p:nvPr/>
        </p:nvSpPr>
        <p:spPr>
          <a:xfrm>
            <a:off x="8356397" y="4526280"/>
            <a:ext cx="3058058" cy="960120"/>
          </a:xfrm>
          <a:prstGeom prst="roundRect">
            <a:avLst>
              <a:gd name="adj" fmla="val 7619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28" name="D-03 fix"/>
          <p:cNvSpPr txBox="1"/>
          <p:nvPr/>
        </p:nvSpPr>
        <p:spPr>
          <a:xfrm>
            <a:off x="8493557" y="4526280"/>
            <a:ext cx="278373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Fix: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KPI restored (seed shows 1 pending doctor)</a:t>
            </a:r>
            <a:endParaRPr lang="en-US" sz="1300" dirty="0"/>
          </a:p>
        </p:txBody>
      </p:sp>
      <p:sp>
        <p:nvSpPr>
          <p:cNvPr id="29" name="D-03 file"/>
          <p:cNvSpPr txBox="1"/>
          <p:nvPr/>
        </p:nvSpPr>
        <p:spPr>
          <a:xfrm>
            <a:off x="8356397" y="5623560"/>
            <a:ext cx="30580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dashboard/service.py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smoke test: 25 of 25 checks pass</a:t>
            </a:r>
            <a:endParaRPr lang="en-US" sz="3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4415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5239512"/>
                <a:gridCol w="1188720"/>
                <a:gridCol w="1371600"/>
              </a:tblGrid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Check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Endpoint(s)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Expected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Result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47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Liveness and readiness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GET /health · GET /api/health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200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5"/>
                          </a:solidFill>
                        </a:rPr>
                        <a:t>✓ pass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Unauthenticated access refused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GET /api/patients · GET /api/follow-up/tasks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401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5"/>
                          </a:solidFill>
                        </a:rPr>
                        <a:t>✓ pass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Wrong password refused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POST /api/auth/login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401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5"/>
                          </a:solidFill>
                        </a:rPr>
                        <a:t>✓ pass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Login: secretary, doctor, patient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POST /api/auth/login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200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5"/>
                          </a:solidFill>
                        </a:rPr>
                        <a:t>✓ pass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Staff reads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/api/auth/me · /api/patients · /api/dashboard/summary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200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5"/>
                          </a:solidFill>
                        </a:rPr>
                        <a:t>✓ pass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Appointments, both APIs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/api/appointments · /api/booking · /doctors · /slots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200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5"/>
                          </a:solidFill>
                        </a:rPr>
                        <a:t>✓ pass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Follow-up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/api/follow-up/tasks · /stats · /reminders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200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5"/>
                          </a:solidFill>
                        </a:rPr>
                        <a:t>✓ pass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Clinical and billing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/api/documents/ · /api/reports · /api/billing/invoices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200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5"/>
                          </a:solidFill>
                        </a:rPr>
                        <a:t>✓ pass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Patient portal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/api/portal/me · /api/portal/follow-ups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200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5"/>
                          </a:solidFill>
                        </a:rPr>
                        <a:t>✓ pass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Role isolation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Patient token → GET /api/patients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403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5"/>
                          </a:solidFill>
                        </a:rPr>
                        <a:t>✓ pass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LLM status (public, see D-06)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GET /api/llm/status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200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5"/>
                          </a:solidFill>
                        </a:rPr>
                        <a:t>✓ pass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double booking across the two appointment APIs</a:t>
            </a:r>
            <a:endParaRPr lang="en-US" sz="3200" dirty="0"/>
          </a:p>
        </p:txBody>
      </p:sp>
      <p:sp>
        <p:nvSpPr>
          <p:cNvPr id="3" name="intro"/>
          <p:cNvSpPr txBox="1"/>
          <p:nvPr/>
        </p:nvSpPr>
        <p:spPr>
          <a:xfrm>
            <a:off x="548640" y="12344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Both APIs write to the same collection. This sequence books the same doctor's slots through each API in turn:</a:t>
            </a:r>
            <a:endParaRPr lang="en-US" sz="1500" dirty="0"/>
          </a:p>
        </p:txBody>
      </p:sp>
      <p:sp>
        <p:nvSpPr>
          <p:cNvPr id="4" name="step 1"/>
          <p:cNvSpPr/>
          <p:nvPr/>
        </p:nvSpPr>
        <p:spPr>
          <a:xfrm>
            <a:off x="548640" y="1920240"/>
            <a:ext cx="1711909" cy="3108960"/>
          </a:xfrm>
          <a:prstGeom prst="roundRect">
            <a:avLst>
              <a:gd name="adj" fmla="val 4273"/>
            </a:avLst>
          </a:prstGeom>
          <a:solidFill>
            <a:srgbClr val="F3F7F8"/>
          </a:solidFill>
          <a:ln w="12700">
            <a:solidFill>
              <a:srgbClr val="F3F7F8"/>
            </a:solidFill>
            <a:prstDash val="solid"/>
          </a:ln>
        </p:spPr>
      </p:sp>
      <p:sp>
        <p:nvSpPr>
          <p:cNvPr id="5" name="step 1 badge"/>
          <p:cNvSpPr/>
          <p:nvPr/>
        </p:nvSpPr>
        <p:spPr>
          <a:xfrm>
            <a:off x="731520" y="2103120"/>
            <a:ext cx="457200" cy="457200"/>
          </a:xfrm>
          <a:prstGeom prst="ellipse">
            <a:avLst/>
          </a:prstGeom>
          <a:solidFill>
            <a:srgbClr val="0B3B47"/>
          </a:solidFill>
          <a:ln w="12700">
            <a:solidFill>
              <a:srgbClr val="0B3B47"/>
            </a:solidFill>
            <a:prstDash val="solid"/>
          </a:ln>
        </p:spPr>
      </p:sp>
      <p:sp>
        <p:nvSpPr>
          <p:cNvPr id="6" name="step 1 n"/>
          <p:cNvSpPr txBox="1"/>
          <p:nvPr/>
        </p:nvSpPr>
        <p:spPr>
          <a:xfrm>
            <a:off x="73152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step 1 label"/>
          <p:cNvSpPr txBox="1"/>
          <p:nvPr/>
        </p:nvSpPr>
        <p:spPr>
          <a:xfrm>
            <a:off x="731520" y="2697480"/>
            <a:ext cx="134614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Book a free slot (booking API)</a:t>
            </a:r>
            <a:endParaRPr lang="en-US" sz="1400" dirty="0"/>
          </a:p>
        </p:txBody>
      </p:sp>
      <p:sp>
        <p:nvSpPr>
          <p:cNvPr id="8" name="step 1 result box"/>
          <p:cNvSpPr/>
          <p:nvPr/>
        </p:nvSpPr>
        <p:spPr>
          <a:xfrm>
            <a:off x="731520" y="4160520"/>
            <a:ext cx="1346149" cy="685800"/>
          </a:xfrm>
          <a:prstGeom prst="roundRect">
            <a:avLst>
              <a:gd name="adj" fmla="val 10667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9" name="step 1 result"/>
          <p:cNvSpPr txBox="1"/>
          <p:nvPr/>
        </p:nvSpPr>
        <p:spPr>
          <a:xfrm>
            <a:off x="731520" y="4160520"/>
            <a:ext cx="134614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booked</a:t>
            </a:r>
            <a:endParaRPr lang="en-US" sz="1400" dirty="0"/>
          </a:p>
        </p:txBody>
      </p:sp>
      <p:sp>
        <p:nvSpPr>
          <p:cNvPr id="10" name="step 2"/>
          <p:cNvSpPr/>
          <p:nvPr/>
        </p:nvSpPr>
        <p:spPr>
          <a:xfrm>
            <a:off x="2425141" y="1920240"/>
            <a:ext cx="1711909" cy="3108960"/>
          </a:xfrm>
          <a:prstGeom prst="roundRect">
            <a:avLst>
              <a:gd name="adj" fmla="val 4273"/>
            </a:avLst>
          </a:prstGeom>
          <a:solidFill>
            <a:srgbClr val="F3F7F8"/>
          </a:solidFill>
          <a:ln w="12700">
            <a:solidFill>
              <a:srgbClr val="F3F7F8"/>
            </a:solidFill>
            <a:prstDash val="solid"/>
          </a:ln>
        </p:spPr>
      </p:sp>
      <p:sp>
        <p:nvSpPr>
          <p:cNvPr id="11" name="step 2 badge"/>
          <p:cNvSpPr/>
          <p:nvPr/>
        </p:nvSpPr>
        <p:spPr>
          <a:xfrm>
            <a:off x="2608021" y="2103120"/>
            <a:ext cx="457200" cy="457200"/>
          </a:xfrm>
          <a:prstGeom prst="ellipse">
            <a:avLst/>
          </a:prstGeom>
          <a:solidFill>
            <a:srgbClr val="0B3B47"/>
          </a:solidFill>
          <a:ln w="12700">
            <a:solidFill>
              <a:srgbClr val="0B3B47"/>
            </a:solidFill>
            <a:prstDash val="solid"/>
          </a:ln>
        </p:spPr>
      </p:sp>
      <p:sp>
        <p:nvSpPr>
          <p:cNvPr id="12" name="step 2 n"/>
          <p:cNvSpPr txBox="1"/>
          <p:nvPr/>
        </p:nvSpPr>
        <p:spPr>
          <a:xfrm>
            <a:off x="2608021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step 2 label"/>
          <p:cNvSpPr txBox="1"/>
          <p:nvPr/>
        </p:nvSpPr>
        <p:spPr>
          <a:xfrm>
            <a:off x="2608021" y="2697480"/>
            <a:ext cx="134614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Same slot again (booking API)</a:t>
            </a:r>
            <a:endParaRPr lang="en-US" sz="1400" dirty="0"/>
          </a:p>
        </p:txBody>
      </p:sp>
      <p:sp>
        <p:nvSpPr>
          <p:cNvPr id="14" name="step 2 result box"/>
          <p:cNvSpPr/>
          <p:nvPr/>
        </p:nvSpPr>
        <p:spPr>
          <a:xfrm>
            <a:off x="2608021" y="4160520"/>
            <a:ext cx="1346149" cy="685800"/>
          </a:xfrm>
          <a:prstGeom prst="roundRect">
            <a:avLst>
              <a:gd name="adj" fmla="val 10667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5" name="step 2 result"/>
          <p:cNvSpPr txBox="1"/>
          <p:nvPr/>
        </p:nvSpPr>
        <p:spPr>
          <a:xfrm>
            <a:off x="2608021" y="4160520"/>
            <a:ext cx="134614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409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blocked, as expected</a:t>
            </a:r>
            <a:endParaRPr lang="en-US" sz="1400" dirty="0"/>
          </a:p>
        </p:txBody>
      </p:sp>
      <p:sp>
        <p:nvSpPr>
          <p:cNvPr id="16" name="step 3"/>
          <p:cNvSpPr/>
          <p:nvPr/>
        </p:nvSpPr>
        <p:spPr>
          <a:xfrm>
            <a:off x="4301642" y="1920240"/>
            <a:ext cx="1711909" cy="3108960"/>
          </a:xfrm>
          <a:prstGeom prst="roundRect">
            <a:avLst>
              <a:gd name="adj" fmla="val 4273"/>
            </a:avLst>
          </a:prstGeom>
          <a:solidFill>
            <a:srgbClr val="F3F7F8"/>
          </a:solidFill>
          <a:ln w="12700">
            <a:solidFill>
              <a:srgbClr val="F3F7F8"/>
            </a:solidFill>
            <a:prstDash val="solid"/>
          </a:ln>
        </p:spPr>
      </p:sp>
      <p:sp>
        <p:nvSpPr>
          <p:cNvPr id="17" name="step 3 badge"/>
          <p:cNvSpPr/>
          <p:nvPr/>
        </p:nvSpPr>
        <p:spPr>
          <a:xfrm>
            <a:off x="4484522" y="2103120"/>
            <a:ext cx="457200" cy="457200"/>
          </a:xfrm>
          <a:prstGeom prst="ellipse">
            <a:avLst/>
          </a:prstGeom>
          <a:solidFill>
            <a:srgbClr val="0B3B47"/>
          </a:solidFill>
          <a:ln w="12700">
            <a:solidFill>
              <a:srgbClr val="0B3B47"/>
            </a:solidFill>
            <a:prstDash val="solid"/>
          </a:ln>
        </p:spPr>
      </p:sp>
      <p:sp>
        <p:nvSpPr>
          <p:cNvPr id="18" name="step 3 n"/>
          <p:cNvSpPr txBox="1"/>
          <p:nvPr/>
        </p:nvSpPr>
        <p:spPr>
          <a:xfrm>
            <a:off x="4484522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9" name="step 3 label"/>
          <p:cNvSpPr txBox="1"/>
          <p:nvPr/>
        </p:nvSpPr>
        <p:spPr>
          <a:xfrm>
            <a:off x="4484522" y="2697480"/>
            <a:ext cx="134614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Same slot (appointments API)</a:t>
            </a:r>
            <a:endParaRPr lang="en-US" sz="1400" dirty="0"/>
          </a:p>
        </p:txBody>
      </p:sp>
      <p:sp>
        <p:nvSpPr>
          <p:cNvPr id="20" name="step 3 result box"/>
          <p:cNvSpPr/>
          <p:nvPr/>
        </p:nvSpPr>
        <p:spPr>
          <a:xfrm>
            <a:off x="4484522" y="4160520"/>
            <a:ext cx="1346149" cy="685800"/>
          </a:xfrm>
          <a:prstGeom prst="roundRect">
            <a:avLst>
              <a:gd name="adj" fmla="val 10667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21" name="step 3 result"/>
          <p:cNvSpPr txBox="1"/>
          <p:nvPr/>
        </p:nvSpPr>
        <p:spPr>
          <a:xfrm>
            <a:off x="4484522" y="4160520"/>
            <a:ext cx="134614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409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blocked, as expected</a:t>
            </a:r>
            <a:endParaRPr lang="en-US" sz="1400" dirty="0"/>
          </a:p>
        </p:txBody>
      </p:sp>
      <p:sp>
        <p:nvSpPr>
          <p:cNvPr id="22" name="step 4"/>
          <p:cNvSpPr/>
          <p:nvPr/>
        </p:nvSpPr>
        <p:spPr>
          <a:xfrm>
            <a:off x="6178144" y="1920240"/>
            <a:ext cx="1711909" cy="3108960"/>
          </a:xfrm>
          <a:prstGeom prst="roundRect">
            <a:avLst>
              <a:gd name="adj" fmla="val 4273"/>
            </a:avLst>
          </a:prstGeom>
          <a:solidFill>
            <a:srgbClr val="F3F7F8"/>
          </a:solidFill>
          <a:ln w="12700">
            <a:solidFill>
              <a:srgbClr val="F3F7F8"/>
            </a:solidFill>
            <a:prstDash val="solid"/>
          </a:ln>
        </p:spPr>
      </p:sp>
      <p:sp>
        <p:nvSpPr>
          <p:cNvPr id="23" name="step 4 badge"/>
          <p:cNvSpPr/>
          <p:nvPr/>
        </p:nvSpPr>
        <p:spPr>
          <a:xfrm>
            <a:off x="6361024" y="2103120"/>
            <a:ext cx="457200" cy="457200"/>
          </a:xfrm>
          <a:prstGeom prst="ellipse">
            <a:avLst/>
          </a:prstGeom>
          <a:solidFill>
            <a:srgbClr val="0B3B47"/>
          </a:solidFill>
          <a:ln w="12700">
            <a:solidFill>
              <a:srgbClr val="0B3B47"/>
            </a:solidFill>
            <a:prstDash val="solid"/>
          </a:ln>
        </p:spPr>
      </p:sp>
      <p:sp>
        <p:nvSpPr>
          <p:cNvPr id="24" name="step 4 n"/>
          <p:cNvSpPr txBox="1"/>
          <p:nvPr/>
        </p:nvSpPr>
        <p:spPr>
          <a:xfrm>
            <a:off x="6361024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5" name="step 4 label"/>
          <p:cNvSpPr txBox="1"/>
          <p:nvPr/>
        </p:nvSpPr>
        <p:spPr>
          <a:xfrm>
            <a:off x="6361024" y="2697480"/>
            <a:ext cx="134614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Book slot 2 (appointments API)</a:t>
            </a:r>
            <a:endParaRPr lang="en-US" sz="1400" dirty="0"/>
          </a:p>
        </p:txBody>
      </p:sp>
      <p:sp>
        <p:nvSpPr>
          <p:cNvPr id="26" name="step 4 result box"/>
          <p:cNvSpPr/>
          <p:nvPr/>
        </p:nvSpPr>
        <p:spPr>
          <a:xfrm>
            <a:off x="6361024" y="4160520"/>
            <a:ext cx="1346149" cy="685800"/>
          </a:xfrm>
          <a:prstGeom prst="roundRect">
            <a:avLst>
              <a:gd name="adj" fmla="val 10667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27" name="step 4 result"/>
          <p:cNvSpPr txBox="1"/>
          <p:nvPr/>
        </p:nvSpPr>
        <p:spPr>
          <a:xfrm>
            <a:off x="6361024" y="4160520"/>
            <a:ext cx="134614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booked</a:t>
            </a:r>
            <a:endParaRPr lang="en-US" sz="1400" dirty="0"/>
          </a:p>
        </p:txBody>
      </p:sp>
      <p:sp>
        <p:nvSpPr>
          <p:cNvPr id="28" name="step 5"/>
          <p:cNvSpPr/>
          <p:nvPr/>
        </p:nvSpPr>
        <p:spPr>
          <a:xfrm>
            <a:off x="8054645" y="1920240"/>
            <a:ext cx="1711909" cy="3108960"/>
          </a:xfrm>
          <a:prstGeom prst="roundRect">
            <a:avLst>
              <a:gd name="adj" fmla="val 4273"/>
            </a:avLst>
          </a:prstGeom>
          <a:solidFill>
            <a:srgbClr val="F3F7F8"/>
          </a:solidFill>
          <a:ln w="12700">
            <a:solidFill>
              <a:srgbClr val="F3F7F8"/>
            </a:solidFill>
            <a:prstDash val="solid"/>
          </a:ln>
        </p:spPr>
      </p:sp>
      <p:sp>
        <p:nvSpPr>
          <p:cNvPr id="29" name="step 5 badge"/>
          <p:cNvSpPr/>
          <p:nvPr/>
        </p:nvSpPr>
        <p:spPr>
          <a:xfrm>
            <a:off x="8237525" y="2103120"/>
            <a:ext cx="457200" cy="457200"/>
          </a:xfrm>
          <a:prstGeom prst="ellipse">
            <a:avLst/>
          </a:prstGeom>
          <a:solidFill>
            <a:srgbClr val="0B3B47"/>
          </a:solidFill>
          <a:ln w="12700">
            <a:solidFill>
              <a:srgbClr val="0B3B47"/>
            </a:solidFill>
            <a:prstDash val="solid"/>
          </a:ln>
        </p:spPr>
      </p:sp>
      <p:sp>
        <p:nvSpPr>
          <p:cNvPr id="30" name="step 5 n"/>
          <p:cNvSpPr txBox="1"/>
          <p:nvPr/>
        </p:nvSpPr>
        <p:spPr>
          <a:xfrm>
            <a:off x="8237525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31" name="step 5 label"/>
          <p:cNvSpPr txBox="1"/>
          <p:nvPr/>
        </p:nvSpPr>
        <p:spPr>
          <a:xfrm>
            <a:off x="8237525" y="2697480"/>
            <a:ext cx="134614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Slot 2 (booking API)</a:t>
            </a:r>
            <a:endParaRPr lang="en-US" sz="1400" dirty="0"/>
          </a:p>
        </p:txBody>
      </p:sp>
      <p:sp>
        <p:nvSpPr>
          <p:cNvPr id="32" name="step 5 result box"/>
          <p:cNvSpPr/>
          <p:nvPr/>
        </p:nvSpPr>
        <p:spPr>
          <a:xfrm>
            <a:off x="8237525" y="4160520"/>
            <a:ext cx="1346149" cy="685800"/>
          </a:xfrm>
          <a:prstGeom prst="roundRect">
            <a:avLst>
              <a:gd name="adj" fmla="val 10667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33" name="step 5 result"/>
          <p:cNvSpPr txBox="1"/>
          <p:nvPr/>
        </p:nvSpPr>
        <p:spPr>
          <a:xfrm>
            <a:off x="8237525" y="4160520"/>
            <a:ext cx="134614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409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blocked, as expected</a:t>
            </a:r>
            <a:endParaRPr lang="en-US" sz="1400" dirty="0"/>
          </a:p>
        </p:txBody>
      </p:sp>
      <p:sp>
        <p:nvSpPr>
          <p:cNvPr id="34" name="step 6"/>
          <p:cNvSpPr/>
          <p:nvPr/>
        </p:nvSpPr>
        <p:spPr>
          <a:xfrm>
            <a:off x="9931146" y="1920240"/>
            <a:ext cx="1711909" cy="3108960"/>
          </a:xfrm>
          <a:prstGeom prst="roundRect">
            <a:avLst>
              <a:gd name="adj" fmla="val 4273"/>
            </a:avLst>
          </a:prstGeom>
          <a:solidFill>
            <a:srgbClr val="F3F7F8"/>
          </a:solidFill>
          <a:ln w="12700">
            <a:solidFill>
              <a:srgbClr val="F3F7F8"/>
            </a:solidFill>
            <a:prstDash val="solid"/>
          </a:ln>
        </p:spPr>
      </p:sp>
      <p:sp>
        <p:nvSpPr>
          <p:cNvPr id="35" name="step 6 badge"/>
          <p:cNvSpPr/>
          <p:nvPr/>
        </p:nvSpPr>
        <p:spPr>
          <a:xfrm>
            <a:off x="10114026" y="2103120"/>
            <a:ext cx="457200" cy="457200"/>
          </a:xfrm>
          <a:prstGeom prst="ellipse">
            <a:avLst/>
          </a:prstGeom>
          <a:solidFill>
            <a:srgbClr val="0B3B47"/>
          </a:solidFill>
          <a:ln w="12700">
            <a:solidFill>
              <a:srgbClr val="0B3B47"/>
            </a:solidFill>
            <a:prstDash val="solid"/>
          </a:ln>
        </p:spPr>
      </p:sp>
      <p:sp>
        <p:nvSpPr>
          <p:cNvPr id="36" name="step 6 n"/>
          <p:cNvSpPr txBox="1"/>
          <p:nvPr/>
        </p:nvSpPr>
        <p:spPr>
          <a:xfrm>
            <a:off x="10114026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37" name="step 6 label"/>
          <p:cNvSpPr txBox="1"/>
          <p:nvPr/>
        </p:nvSpPr>
        <p:spPr>
          <a:xfrm>
            <a:off x="10114026" y="2697480"/>
            <a:ext cx="134614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Both slots gone from the free-slot list</a:t>
            </a:r>
            <a:endParaRPr lang="en-US" sz="1400" dirty="0"/>
          </a:p>
        </p:txBody>
      </p:sp>
      <p:sp>
        <p:nvSpPr>
          <p:cNvPr id="38" name="step 6 result box"/>
          <p:cNvSpPr/>
          <p:nvPr/>
        </p:nvSpPr>
        <p:spPr>
          <a:xfrm>
            <a:off x="10114026" y="4160520"/>
            <a:ext cx="1346149" cy="685800"/>
          </a:xfrm>
          <a:prstGeom prst="roundRect">
            <a:avLst>
              <a:gd name="adj" fmla="val 10667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39" name="step 6 result"/>
          <p:cNvSpPr txBox="1"/>
          <p:nvPr/>
        </p:nvSpPr>
        <p:spPr>
          <a:xfrm>
            <a:off x="10114026" y="4160520"/>
            <a:ext cx="134614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Hidden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as expected</a:t>
            </a:r>
            <a:endParaRPr lang="en-US" sz="1400" dirty="0"/>
          </a:p>
        </p:txBody>
      </p:sp>
      <p:sp>
        <p:nvSpPr>
          <p:cNvPr id="40" name="conclusion"/>
          <p:cNvSpPr/>
          <p:nvPr/>
        </p:nvSpPr>
        <p:spPr>
          <a:xfrm>
            <a:off x="548640" y="5303520"/>
            <a:ext cx="11094415" cy="777240"/>
          </a:xfrm>
          <a:prstGeom prst="roundRect">
            <a:avLst>
              <a:gd name="adj" fmla="val 9412"/>
            </a:avLst>
          </a:prstGeom>
          <a:solidFill>
            <a:srgbClr val="E3F2F0"/>
          </a:solidFill>
          <a:ln w="12700">
            <a:solidFill>
              <a:srgbClr val="E3F2F0"/>
            </a:solidFill>
            <a:prstDash val="solid"/>
          </a:ln>
        </p:spPr>
      </p:sp>
      <p:sp>
        <p:nvSpPr>
          <p:cNvPr id="41" name="conclusion text"/>
          <p:cNvSpPr txBox="1"/>
          <p:nvPr/>
        </p:nvSpPr>
        <p:spPr>
          <a:xfrm>
            <a:off x="822960" y="5303520"/>
            <a:ext cx="105457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6 / 6 pass.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Both services call the same overlap check (find_overlapping_appointment), so moving the booking API to its own module didn't open a double-booking gap.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Static analysis and frontend build</a:t>
            </a:r>
            <a:endParaRPr lang="en-US" sz="3200" dirty="0"/>
          </a:p>
        </p:txBody>
      </p:sp>
      <p:sp>
        <p:nvSpPr>
          <p:cNvPr id="3" name="Ruff lint head"/>
          <p:cNvSpPr/>
          <p:nvPr/>
        </p:nvSpPr>
        <p:spPr>
          <a:xfrm>
            <a:off x="548640" y="1325880"/>
            <a:ext cx="3515258" cy="1417320"/>
          </a:xfrm>
          <a:prstGeom prst="roundRect">
            <a:avLst>
              <a:gd name="adj" fmla="val 516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4" name="Ruff lint title"/>
          <p:cNvSpPr txBox="1"/>
          <p:nvPr/>
        </p:nvSpPr>
        <p:spPr>
          <a:xfrm>
            <a:off x="777240" y="1463040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Ruff lint</a:t>
            </a:r>
            <a:endParaRPr lang="en-US" sz="1600" dirty="0"/>
          </a:p>
        </p:txBody>
      </p:sp>
      <p:sp>
        <p:nvSpPr>
          <p:cNvPr id="5" name="Ruff lint value"/>
          <p:cNvSpPr txBox="1"/>
          <p:nvPr/>
        </p:nvSpPr>
        <p:spPr>
          <a:xfrm>
            <a:off x="777240" y="1874520"/>
            <a:ext cx="30580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  findings, all auto-fixable</a:t>
            </a:r>
            <a:endParaRPr lang="en-US" sz="1400" dirty="0"/>
          </a:p>
        </p:txBody>
      </p:sp>
      <p:sp>
        <p:nvSpPr>
          <p:cNvPr id="6" name="Ruff lint bullets"/>
          <p:cNvSpPr txBox="1"/>
          <p:nvPr/>
        </p:nvSpPr>
        <p:spPr>
          <a:xfrm>
            <a:off x="640080" y="2971800"/>
            <a:ext cx="333237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12 × UP045 Optional[...] annotations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7 × I001 import order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6 × F401 unused imports, 1 × UP017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All in code that came from main: follow_up (24), gemini (1), test_appointments (1)</a:t>
            </a:r>
            <a:endParaRPr lang="en-US" sz="1400" dirty="0"/>
          </a:p>
        </p:txBody>
      </p:sp>
      <p:sp>
        <p:nvSpPr>
          <p:cNvPr id="7" name="Ruff format head"/>
          <p:cNvSpPr/>
          <p:nvPr/>
        </p:nvSpPr>
        <p:spPr>
          <a:xfrm>
            <a:off x="4338218" y="1325880"/>
            <a:ext cx="3515258" cy="1417320"/>
          </a:xfrm>
          <a:prstGeom prst="roundRect">
            <a:avLst>
              <a:gd name="adj" fmla="val 516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8" name="Ruff format title"/>
          <p:cNvSpPr txBox="1"/>
          <p:nvPr/>
        </p:nvSpPr>
        <p:spPr>
          <a:xfrm>
            <a:off x="4566818" y="1463040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Ruff format</a:t>
            </a:r>
            <a:endParaRPr lang="en-US" sz="1600" dirty="0"/>
          </a:p>
        </p:txBody>
      </p:sp>
      <p:sp>
        <p:nvSpPr>
          <p:cNvPr id="9" name="Ruff format value"/>
          <p:cNvSpPr txBox="1"/>
          <p:nvPr/>
        </p:nvSpPr>
        <p:spPr>
          <a:xfrm>
            <a:off x="4566818" y="1874520"/>
            <a:ext cx="30580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  files would be reformatted</a:t>
            </a:r>
            <a:endParaRPr lang="en-US" sz="1400" dirty="0"/>
          </a:p>
        </p:txBody>
      </p:sp>
      <p:sp>
        <p:nvSpPr>
          <p:cNvPr id="10" name="Ruff format bullets"/>
          <p:cNvSpPr txBox="1"/>
          <p:nvPr/>
        </p:nvSpPr>
        <p:spPr>
          <a:xfrm>
            <a:off x="4429658" y="2971800"/>
            <a:ext cx="333237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120 files already formatted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Mostly follow_up, dashboard and new test files from main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Keep it out of the merge: do it in a separate chore commit</a:t>
            </a:r>
            <a:endParaRPr lang="en-US" sz="1400" dirty="0"/>
          </a:p>
        </p:txBody>
      </p:sp>
      <p:sp>
        <p:nvSpPr>
          <p:cNvPr id="11" name="Angular build head"/>
          <p:cNvSpPr/>
          <p:nvPr/>
        </p:nvSpPr>
        <p:spPr>
          <a:xfrm>
            <a:off x="8127797" y="1325880"/>
            <a:ext cx="3515258" cy="1417320"/>
          </a:xfrm>
          <a:prstGeom prst="roundRect">
            <a:avLst>
              <a:gd name="adj" fmla="val 516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Angular build title"/>
          <p:cNvSpPr txBox="1"/>
          <p:nvPr/>
        </p:nvSpPr>
        <p:spPr>
          <a:xfrm>
            <a:off x="8356397" y="1463040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Angular build</a:t>
            </a:r>
            <a:endParaRPr lang="en-US" sz="1600" dirty="0"/>
          </a:p>
        </p:txBody>
      </p:sp>
      <p:sp>
        <p:nvSpPr>
          <p:cNvPr id="13" name="Angular build value"/>
          <p:cNvSpPr txBox="1"/>
          <p:nvPr/>
        </p:nvSpPr>
        <p:spPr>
          <a:xfrm>
            <a:off x="8356397" y="1874520"/>
            <a:ext cx="30580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FAIL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  production configuration</a:t>
            </a:r>
            <a:endParaRPr lang="en-US" sz="1400" dirty="0"/>
          </a:p>
        </p:txBody>
      </p:sp>
      <p:sp>
        <p:nvSpPr>
          <p:cNvPr id="14" name="Angular build bullets"/>
          <p:cNvSpPr txBox="1"/>
          <p:nvPr/>
        </p:nvSpPr>
        <p:spPr>
          <a:xfrm>
            <a:off x="8219237" y="2971800"/>
            <a:ext cx="333237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Inlined Google Fonts CSS is 29 kB, over the 16 kB component-style error budget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Already present on both parents: styles.scss and angular.json are unchanged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Frontend Dockerfile runs this build, so the image can't build</a:t>
            </a:r>
            <a:endParaRPr lang="en-US" sz="1400" dirty="0"/>
          </a:p>
        </p:txBody>
      </p:sp>
      <p:sp>
        <p:nvSpPr>
          <p:cNvPr id="15" name="frontend ok"/>
          <p:cNvSpPr txBox="1"/>
          <p:nvPr/>
        </p:nvSpPr>
        <p:spPr>
          <a:xfrm>
            <a:off x="548640" y="58064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Also: 26/26 Vitest unit tests pass; 3 SCSS files over the 8 kB warning budget; 22 CommonJS warnings from jspdf/canvg.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and dependencies</a:t>
            </a:r>
            <a:endParaRPr lang="en-US" sz="3200" dirty="0"/>
          </a:p>
        </p:txBody>
      </p:sp>
      <p:sp>
        <p:nvSpPr>
          <p:cNvPr id="3" name="dep 1"/>
          <p:cNvSpPr/>
          <p:nvPr/>
        </p:nvSpPr>
        <p:spPr>
          <a:xfrm>
            <a:off x="548640" y="1325880"/>
            <a:ext cx="5120640" cy="1417320"/>
          </a:xfrm>
          <a:prstGeom prst="roundRect">
            <a:avLst>
              <a:gd name="adj" fmla="val 5161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4" name="dep 1 value"/>
          <p:cNvSpPr txBox="1"/>
          <p:nvPr/>
        </p:nvSpPr>
        <p:spPr>
          <a:xfrm>
            <a:off x="777240" y="1325880"/>
            <a:ext cx="1097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000" dirty="0"/>
          </a:p>
        </p:txBody>
      </p:sp>
      <p:sp>
        <p:nvSpPr>
          <p:cNvPr id="5" name="dep 1 label"/>
          <p:cNvSpPr txBox="1"/>
          <p:nvPr/>
        </p:nvSpPr>
        <p:spPr>
          <a:xfrm>
            <a:off x="1920240" y="1463040"/>
            <a:ext cx="3566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npm production vulnerabilities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npm audit --omit=dev</a:t>
            </a:r>
            <a:endParaRPr lang="en-US" sz="1400" dirty="0"/>
          </a:p>
        </p:txBody>
      </p:sp>
      <p:sp>
        <p:nvSpPr>
          <p:cNvPr id="6" name="dep 2"/>
          <p:cNvSpPr/>
          <p:nvPr/>
        </p:nvSpPr>
        <p:spPr>
          <a:xfrm>
            <a:off x="548640" y="2926080"/>
            <a:ext cx="5120640" cy="1417320"/>
          </a:xfrm>
          <a:prstGeom prst="roundRect">
            <a:avLst>
              <a:gd name="adj" fmla="val 516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7" name="dep 2 value"/>
          <p:cNvSpPr txBox="1"/>
          <p:nvPr/>
        </p:nvSpPr>
        <p:spPr>
          <a:xfrm>
            <a:off x="777240" y="2926080"/>
            <a:ext cx="1097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8" name="dep 2 label"/>
          <p:cNvSpPr txBox="1"/>
          <p:nvPr/>
        </p:nvSpPr>
        <p:spPr>
          <a:xfrm>
            <a:off x="1920240" y="3063240"/>
            <a:ext cx="3566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dev-only advisories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vite (high, Windows launch-editor) · fast-uri (moderate) · @angular/build (low). All have fixes</a:t>
            </a:r>
            <a:endParaRPr lang="en-US" sz="1400" dirty="0"/>
          </a:p>
        </p:txBody>
      </p:sp>
      <p:sp>
        <p:nvSpPr>
          <p:cNvPr id="9" name="dep 3"/>
          <p:cNvSpPr/>
          <p:nvPr/>
        </p:nvSpPr>
        <p:spPr>
          <a:xfrm>
            <a:off x="548640" y="4526280"/>
            <a:ext cx="5120640" cy="1417320"/>
          </a:xfrm>
          <a:prstGeom prst="roundRect">
            <a:avLst>
              <a:gd name="adj" fmla="val 516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dep 3 value"/>
          <p:cNvSpPr txBox="1"/>
          <p:nvPr/>
        </p:nvSpPr>
        <p:spPr>
          <a:xfrm>
            <a:off x="777240" y="4526280"/>
            <a:ext cx="1097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—</a:t>
            </a:r>
            <a:endParaRPr lang="en-US" sz="4000" dirty="0"/>
          </a:p>
        </p:txBody>
      </p:sp>
      <p:sp>
        <p:nvSpPr>
          <p:cNvPr id="11" name="dep 3 label"/>
          <p:cNvSpPr txBox="1"/>
          <p:nvPr/>
        </p:nvSpPr>
        <p:spPr>
          <a:xfrm>
            <a:off x="1920240" y="4663440"/>
            <a:ext cx="3566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pip-audit not run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Not installed in backend/.venv, so Python dependencies were not scanned</a:t>
            </a:r>
            <a:endParaRPr lang="en-US" sz="1400" dirty="0"/>
          </a:p>
        </p:txBody>
      </p:sp>
      <p:sp>
        <p:nvSpPr>
          <p:cNvPr id="12" name="controls heading"/>
          <p:cNvSpPr txBox="1"/>
          <p:nvPr/>
        </p:nvSpPr>
        <p:spPr>
          <a:xfrm>
            <a:off x="5943600" y="1325880"/>
            <a:ext cx="56994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Access and privacy controls checked</a:t>
            </a:r>
            <a:endParaRPr lang="en-US" sz="1800" dirty="0"/>
          </a:p>
        </p:txBody>
      </p:sp>
      <p:sp>
        <p:nvSpPr>
          <p:cNvPr id="13" name="control 1 badge"/>
          <p:cNvSpPr/>
          <p:nvPr/>
        </p:nvSpPr>
        <p:spPr>
          <a:xfrm>
            <a:off x="5943600" y="1920240"/>
            <a:ext cx="384048" cy="384048"/>
          </a:xfrm>
          <a:prstGeom prst="ellipse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4" name="control 1 mark"/>
          <p:cNvSpPr txBox="1"/>
          <p:nvPr/>
        </p:nvSpPr>
        <p:spPr>
          <a:xfrm>
            <a:off x="5943600" y="1920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✓</a:t>
            </a:r>
            <a:endParaRPr lang="en-US" sz="1600" dirty="0"/>
          </a:p>
        </p:txBody>
      </p:sp>
      <p:sp>
        <p:nvSpPr>
          <p:cNvPr id="15" name="control 1 text"/>
          <p:cNvSpPr txBox="1"/>
          <p:nvPr/>
        </p:nvSpPr>
        <p:spPr>
          <a:xfrm>
            <a:off x="6492240" y="1874520"/>
            <a:ext cx="51508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Follow-up API now requires a staff token: 401 without one</a:t>
            </a:r>
            <a:endParaRPr lang="en-US" sz="1400" dirty="0"/>
          </a:p>
        </p:txBody>
      </p:sp>
      <p:sp>
        <p:nvSpPr>
          <p:cNvPr id="16" name="control 2 badge"/>
          <p:cNvSpPr/>
          <p:nvPr/>
        </p:nvSpPr>
        <p:spPr>
          <a:xfrm>
            <a:off x="5943600" y="2743200"/>
            <a:ext cx="384048" cy="384048"/>
          </a:xfrm>
          <a:prstGeom prst="ellipse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7" name="control 2 mark"/>
          <p:cNvSpPr txBox="1"/>
          <p:nvPr/>
        </p:nvSpPr>
        <p:spPr>
          <a:xfrm>
            <a:off x="5943600" y="2743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✓</a:t>
            </a:r>
            <a:endParaRPr lang="en-US" sz="1600" dirty="0"/>
          </a:p>
        </p:txBody>
      </p:sp>
      <p:sp>
        <p:nvSpPr>
          <p:cNvPr id="18" name="control 2 text"/>
          <p:cNvSpPr txBox="1"/>
          <p:nvPr/>
        </p:nvSpPr>
        <p:spPr>
          <a:xfrm>
            <a:off x="6492240" y="2697480"/>
            <a:ext cx="51508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Patient token gets 403 on staff APIs</a:t>
            </a:r>
            <a:endParaRPr lang="en-US" sz="1400" dirty="0"/>
          </a:p>
        </p:txBody>
      </p:sp>
      <p:sp>
        <p:nvSpPr>
          <p:cNvPr id="19" name="control 3 badge"/>
          <p:cNvSpPr/>
          <p:nvPr/>
        </p:nvSpPr>
        <p:spPr>
          <a:xfrm>
            <a:off x="5943600" y="3566160"/>
            <a:ext cx="384048" cy="384048"/>
          </a:xfrm>
          <a:prstGeom prst="ellipse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20" name="control 3 mark"/>
          <p:cNvSpPr txBox="1"/>
          <p:nvPr/>
        </p:nvSpPr>
        <p:spPr>
          <a:xfrm>
            <a:off x="5943600" y="3566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✓</a:t>
            </a:r>
            <a:endParaRPr lang="en-US" sz="1600" dirty="0"/>
          </a:p>
        </p:txBody>
      </p:sp>
      <p:sp>
        <p:nvSpPr>
          <p:cNvPr id="21" name="control 3 text"/>
          <p:cNvSpPr txBox="1"/>
          <p:nvPr/>
        </p:nvSpPr>
        <p:spPr>
          <a:xfrm>
            <a:off x="6492240" y="3520440"/>
            <a:ext cx="51508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Wrong password gets 401; inactive accounts are rejected</a:t>
            </a:r>
            <a:endParaRPr lang="en-US" sz="1400" dirty="0"/>
          </a:p>
        </p:txBody>
      </p:sp>
      <p:sp>
        <p:nvSpPr>
          <p:cNvPr id="22" name="control 4 badge"/>
          <p:cNvSpPr/>
          <p:nvPr/>
        </p:nvSpPr>
        <p:spPr>
          <a:xfrm>
            <a:off x="5943600" y="4389120"/>
            <a:ext cx="384048" cy="384048"/>
          </a:xfrm>
          <a:prstGeom prst="ellipse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23" name="control 4 mark"/>
          <p:cNvSpPr txBox="1"/>
          <p:nvPr/>
        </p:nvSpPr>
        <p:spPr>
          <a:xfrm>
            <a:off x="5943600" y="4389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✓</a:t>
            </a:r>
            <a:endParaRPr lang="en-US" sz="1600" dirty="0"/>
          </a:p>
        </p:txBody>
      </p:sp>
      <p:sp>
        <p:nvSpPr>
          <p:cNvPr id="24" name="control 4 text"/>
          <p:cNvSpPr txBox="1"/>
          <p:nvPr/>
        </p:nvSpPr>
        <p:spPr>
          <a:xfrm>
            <a:off x="6492240" y="4343400"/>
            <a:ext cx="51508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Phone numbers, emails and national IDs are masked before LLM calls (after the D-01 fix)</a:t>
            </a:r>
            <a:endParaRPr lang="en-US" sz="1400" dirty="0"/>
          </a:p>
        </p:txBody>
      </p:sp>
      <p:sp>
        <p:nvSpPr>
          <p:cNvPr id="25" name="control 5 badge"/>
          <p:cNvSpPr/>
          <p:nvPr/>
        </p:nvSpPr>
        <p:spPr>
          <a:xfrm>
            <a:off x="5943600" y="5212080"/>
            <a:ext cx="384048" cy="384048"/>
          </a:xfrm>
          <a:prstGeom prst="ellipse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6" name="control 5 mark"/>
          <p:cNvSpPr txBox="1"/>
          <p:nvPr/>
        </p:nvSpPr>
        <p:spPr>
          <a:xfrm>
            <a:off x="5943600" y="5212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!</a:t>
            </a:r>
            <a:endParaRPr lang="en-US" sz="1600" dirty="0"/>
          </a:p>
        </p:txBody>
      </p:sp>
      <p:sp>
        <p:nvSpPr>
          <p:cNvPr id="27" name="control 5 text"/>
          <p:cNvSpPr txBox="1"/>
          <p:nvPr/>
        </p:nvSpPr>
        <p:spPr>
          <a:xfrm>
            <a:off x="6492240" y="5166360"/>
            <a:ext cx="51508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/api/llm/status is public: it reveals provider names and whether API keys are set (D-06)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Defects log</a:t>
            </a:r>
            <a:endParaRPr lang="en-US" sz="3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4415" cy="914400"/>
        </p:xfrm>
        <a:graphic>
          <a:graphicData uri="http://schemas.openxmlformats.org/drawingml/2006/table">
            <a:tbl>
              <a:tblPr/>
              <a:tblGrid>
                <a:gridCol w="685800"/>
                <a:gridCol w="1051560"/>
                <a:gridCol w="1600200"/>
                <a:gridCol w="5239512"/>
                <a:gridCol w="1463040"/>
                <a:gridCol w="10515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ID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Severity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Area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Defect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Origin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Status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4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D-01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4"/>
                          </a:solidFill>
                        </a:rPr>
                        <a:t>High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Privacy / LLM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Local phone numbers (98 765 432) not masked before LLM calls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main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Fixed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D-02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4"/>
                          </a:solidFill>
                        </a:rPr>
                        <a:t>High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Dashboard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Follow-up KPIs always 0 (wrong status values); new Mongo client leaked per request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main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Fixed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D-03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</a:rPr>
                        <a:t>Medium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Dashboard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Admin 'pending accounts' (inactive_users) KPI dropped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main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Fixed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D-04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4"/>
                          </a:solidFill>
                        </a:rPr>
                        <a:t>High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Frontend build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Production build fails: inlined font CSS 29 kB &gt; 16 kB budget; blocks Docker image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both parents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</a:rPr>
                        <a:t>Open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D-05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6"/>
                          </a:solidFill>
                        </a:rPr>
                        <a:t>Low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Code quality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26 ruff findings (auto-fixable) and 37 unformatted files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main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</a:rPr>
                        <a:t>Open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D-06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6"/>
                          </a:solidFill>
                        </a:rPr>
                        <a:t>Low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Security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/api/llm/status needs no auth; reveals providers and key presence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both parents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</a:rPr>
                        <a:t>Open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D-07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6"/>
                          </a:solidFill>
                        </a:rPr>
                        <a:t>Low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Dev dependencies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vite (high), fast-uri, @angular/build advisories: dev tooling only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both parents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</a:rPr>
                        <a:t>Open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D-08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3"/>
                          </a:solidFill>
                        </a:rPr>
                        <a:t>Info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Test infra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Testcontainers Ryuk port mapping flaky on Docker 20.10.17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environment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</a:rPr>
                        <a:t>Open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Recommended next steps</a:t>
            </a:r>
            <a:endParaRPr lang="en-US" sz="3200" dirty="0"/>
          </a:p>
        </p:txBody>
      </p:sp>
      <p:sp>
        <p:nvSpPr>
          <p:cNvPr id="3" name="rec 1 badge"/>
          <p:cNvSpPr/>
          <p:nvPr/>
        </p:nvSpPr>
        <p:spPr>
          <a:xfrm>
            <a:off x="548640" y="1399032"/>
            <a:ext cx="548640" cy="5486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rec 1 n"/>
          <p:cNvSpPr txBox="1"/>
          <p:nvPr/>
        </p:nvSpPr>
        <p:spPr>
          <a:xfrm>
            <a:off x="548640" y="13990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rec 1 text"/>
          <p:cNvSpPr txBox="1"/>
          <p:nvPr/>
        </p:nvSpPr>
        <p:spPr>
          <a:xfrm>
            <a:off x="1325880" y="1325880"/>
            <a:ext cx="103171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Commit the QA fixes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DE7E4"/>
                </a:solidFill>
              </a:rPr>
              <a:t>5 files: anonymizer, dashboard repository/service and 2 test files. Commit before pushing the merge.</a:t>
            </a:r>
            <a:endParaRPr lang="en-US" sz="1400" dirty="0"/>
          </a:p>
        </p:txBody>
      </p:sp>
      <p:sp>
        <p:nvSpPr>
          <p:cNvPr id="6" name="rec 2 badge"/>
          <p:cNvSpPr/>
          <p:nvPr/>
        </p:nvSpPr>
        <p:spPr>
          <a:xfrm>
            <a:off x="548640" y="2377440"/>
            <a:ext cx="548640" cy="5486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7" name="rec 2 n"/>
          <p:cNvSpPr txBox="1"/>
          <p:nvPr/>
        </p:nvSpPr>
        <p:spPr>
          <a:xfrm>
            <a:off x="548640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8" name="rec 2 text"/>
          <p:cNvSpPr txBox="1"/>
          <p:nvPr/>
        </p:nvSpPr>
        <p:spPr>
          <a:xfrm>
            <a:off x="1325880" y="2304288"/>
            <a:ext cx="103171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Unblock the release build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DE7E4"/>
                </a:solidFill>
              </a:rPr>
              <a:t>Self-host the Inter font, turn off font inlining (optimization.fonts.inline: false), or raise the budget. Then rebuild the Docker image.</a:t>
            </a:r>
            <a:endParaRPr lang="en-US" sz="1400" dirty="0"/>
          </a:p>
        </p:txBody>
      </p:sp>
      <p:sp>
        <p:nvSpPr>
          <p:cNvPr id="9" name="rec 3 badge"/>
          <p:cNvSpPr/>
          <p:nvPr/>
        </p:nvSpPr>
        <p:spPr>
          <a:xfrm>
            <a:off x="548640" y="3355848"/>
            <a:ext cx="548640" cy="5486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" name="rec 3 n"/>
          <p:cNvSpPr txBox="1"/>
          <p:nvPr/>
        </p:nvSpPr>
        <p:spPr>
          <a:xfrm>
            <a:off x="548640" y="33558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1" name="rec 3 text"/>
          <p:cNvSpPr txBox="1"/>
          <p:nvPr/>
        </p:nvSpPr>
        <p:spPr>
          <a:xfrm>
            <a:off x="1325880" y="3282696"/>
            <a:ext cx="103171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Pay down lint debt separately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DE7E4"/>
                </a:solidFill>
              </a:rPr>
              <a:t>Run ruff check --fix and ruff format in a dedicated chore commit, not mixed into feature diffs.</a:t>
            </a:r>
            <a:endParaRPr lang="en-US" sz="1400" dirty="0"/>
          </a:p>
        </p:txBody>
      </p:sp>
      <p:sp>
        <p:nvSpPr>
          <p:cNvPr id="12" name="rec 4 badge"/>
          <p:cNvSpPr/>
          <p:nvPr/>
        </p:nvSpPr>
        <p:spPr>
          <a:xfrm>
            <a:off x="548640" y="4334256"/>
            <a:ext cx="548640" cy="5486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3" name="rec 4 n"/>
          <p:cNvSpPr txBox="1"/>
          <p:nvPr/>
        </p:nvSpPr>
        <p:spPr>
          <a:xfrm>
            <a:off x="548640" y="43342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14" name="rec 4 text"/>
          <p:cNvSpPr txBox="1"/>
          <p:nvPr/>
        </p:nvSpPr>
        <p:spPr>
          <a:xfrm>
            <a:off x="1325880" y="4261104"/>
            <a:ext cx="103171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Add a CI gate on main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DE7E4"/>
                </a:solidFill>
              </a:rPr>
              <a:t>main had 5 failing tests and a failing build. Run ruff, pytest and ng build on every PR.</a:t>
            </a:r>
            <a:endParaRPr lang="en-US" sz="1400" dirty="0"/>
          </a:p>
        </p:txBody>
      </p:sp>
      <p:sp>
        <p:nvSpPr>
          <p:cNvPr id="15" name="rec 5 badge"/>
          <p:cNvSpPr/>
          <p:nvPr/>
        </p:nvSpPr>
        <p:spPr>
          <a:xfrm>
            <a:off x="548640" y="5312664"/>
            <a:ext cx="548640" cy="5486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" name="rec 5 n"/>
          <p:cNvSpPr txBox="1"/>
          <p:nvPr/>
        </p:nvSpPr>
        <p:spPr>
          <a:xfrm>
            <a:off x="548640" y="53126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5</a:t>
            </a:r>
            <a:endParaRPr lang="en-US" sz="1800" dirty="0"/>
          </a:p>
        </p:txBody>
      </p:sp>
      <p:sp>
        <p:nvSpPr>
          <p:cNvPr id="17" name="rec 5 text"/>
          <p:cNvSpPr txBox="1"/>
          <p:nvPr/>
        </p:nvSpPr>
        <p:spPr>
          <a:xfrm>
            <a:off x="1325880" y="5239512"/>
            <a:ext cx="103171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Small hardening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DE7E4"/>
                </a:solidFill>
              </a:rPr>
              <a:t>Require auth on /api/llm/status, run npm audit fix for dev tooling, add pip-audit to the venv.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DE7E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Appendix: how to reproduce</a:t>
            </a:r>
            <a:endParaRPr lang="en-US" sz="3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4415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926287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Check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Command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4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Backend lint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cd backend &amp;&amp; .venv/Scripts/python -m ruff check app tests &amp;&amp; .venv/Scripts/python -m ruff format --check app tests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Backend tests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cd backend &amp;&amp; .venv/Scripts/python -m pytest --junitxml=pytest.xml   (needs Docker for MongoDB 7)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Frontend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cd frontend &amp;&amp; npx ng build &amp;&amp; npx ng test --watch=false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Dependencies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cd frontend &amp;&amp; npm audit --omit=dev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Smoke stack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docker run mongo:7 with ./database as /docker-entrypoint-initdb.d → python -m scripts.seed → uvicorn app.main:app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ip"/>
          <p:cNvSpPr txBox="1"/>
          <p:nvPr/>
        </p:nvSpPr>
        <p:spPr>
          <a:xfrm>
            <a:off x="548640" y="512064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Tip: if Testcontainers reports "port mapping … 8080 is not available" on Docker 20.10, set TESTCONTAINERS_RYUK_DISABLED=true for that run.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ediFlow QA">
  <a:themeElements>
    <a:clrScheme name="MediFlow QA">
      <a:dk1>
        <a:srgbClr val="1B2A33"/>
      </a:dk1>
      <a:lt1>
        <a:srgbClr val="FFFFFF"/>
      </a:lt1>
      <a:dk2>
        <a:srgbClr val="0B3B47"/>
      </a:dk2>
      <a:lt2>
        <a:srgbClr val="F3F7F8"/>
      </a:lt2>
      <a:accent1>
        <a:srgbClr val="0F766E"/>
      </a:accent1>
      <a:accent2>
        <a:srgbClr val="B45309"/>
      </a:accent2>
      <a:accent3>
        <a:srgbClr val="6D28D9"/>
      </a:accent3>
      <a:accent4>
        <a:srgbClr val="B91C1C"/>
      </a:accent4>
      <a:accent5>
        <a:srgbClr val="15803D"/>
      </a:accent5>
      <a:accent6>
        <a:srgbClr val="5B6B73"/>
      </a:accent6>
      <a:hlink>
        <a:srgbClr val="0F766E"/>
      </a:hlink>
      <a:folHlink>
        <a:srgbClr val="6D28D9"/>
      </a:folHlink>
    </a:clrScheme>
    <a:fontScheme name="MediFlow QA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MediFlow AI – Full QA Report</dc:title>
  <dc:subject>QA of the main → patient-record-module merge</dc:subject>
  <dc:creator>sami ben hamed</dc:creator>
  <cp:lastModifiedBy>sami ben hamed</cp:lastModifiedBy>
  <cp:revision>1</cp:revision>
  <dcterms:created xsi:type="dcterms:W3CDTF">2026-10-26T13:06:39Z</dcterms:created>
  <dcterms:modified xsi:type="dcterms:W3CDTF">2026-10-26T13:06:39Z</dcterms:modified>
</cp:coreProperties>
</file>